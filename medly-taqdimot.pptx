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Salom. Men Medly loyihasini taqdim etaman.
Bir gapda: bu bo'lajak shifokorlarni klinik AI bilan xavfsiz ishlashga o'rgatadigan platforma.
Taqdimot 4 qismdan iborat: muammo, mahsulot, asosiy funksiya va arxitektura. Oxirida nima real, nima simulyatsiya ekanini ochiq aytaman.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Uchta fakt, ketma-ket.
Birinchi — AI klinikada allaqachon ishlayapti. Bu kelajak emas, bugun.
Ikkinchi — lekin tibbiyot o'quv dasturida AI moduli yo'q. Talaba bu vositani qanday tekshirishni hech qayerda o'rganmaydi.
Uchinchi va eng muhimi — avtomatlashtirish tarafkashligi. Odam ekranda javobni ko'rsa, o'z fikrini shakllantirmasdan turib shunga qo'shiladi. Loyihaning butun mantiqi shu uchinchi nuqtadan kelib chiqadi.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Mahsulot bir gapda: talabani klinik AI bilan xavfsiz ishlashga o'rgatadigan platforma.
Uch qismdan iborat.
O'quv dasturi — nazariy qism, modellar qanday ishlaydi va qayerda xato qiladi.
Xavfsizlik qatlami — bu eng muhimi. Qoidalar PDF hujjatda yozilgan emas, server kodida majburlanadi. Frontend ularni chetlab o'tolmaydi.
Audit izi — har bir AI bilan bo'lgan muloqot yozib boriladi va aniq bir foydalanuvchiga bog'lanadi.
Asosiy g'oya: PDF'dagi standart hech nimani o'zgartirmaydi, API majburlaydigan standart esa xulqni o'zgartiradi.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loyihaning yuragi.
Talaba tasvirni ochadi, o'z xulosasini yozadi — va faqat shundan keyin AI javob beradi.
Agar ikkinchi qadamni o'tkazib yuborishga urinsa, API 409 xatosi qaytaradi. Ya'ni bu ogohlantirish emas, taqiq.
Nega bu muhim: avtomatlashtirish tarafkashligini maslahat bilan yo'q qilib bo'lmaydi. Uni faqat tartibni majburlash bilan yo'q qilish mumkin.
Oxirgi qadam eng qimmatli metrikani beradi — override rate, ya'ni talaba model bilan necha marta rozi bo'lmagani. Agar guruh hech qachon e'tiroz bildirmasa, demak ular tasvirni o'qimayapti.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Standart oltita qoidadan iborat. Har birining yonida uni majburlaydigan funksiya nomi turibdi — bu shunchaki ro'yxat emas.
Muhim texnik detal: GET /api/governance/standard shu ro'yxatni runtime'da qaytaradi. Ya'ni interfeys server nimani majburlayotgan bo'lsa, aynan shuni ko'rsatadi. Ular bir-biridan uzoqlashib keta olmaydi.
Agar mentor bitta fayl so'rasa — app/services/safety.py. Eng qiziq joyi shu.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Arxitektura oddiy va qat'iy: brauzer hech qachon tashqi xizmatga to'g'ridan-to'g'ri murojaat qilmaydi.
Frontend faqat bizning API'mizga murojaat qiladi. Barcha tashqi chaqiruvlar — Gemini bo'ladimi, Pexels bo'ladimi — backend orqali o'tadi.
Sabab ikkita. Birinchi — xavfsizlik: API kalit server muhit o'zgaruvchisida qoladi, brauzer bundle'iga tushmaydi. Ikkinchi — nazorat: guardrail va audit qatlami chetlab o'tib bo'lmaydigan yagona nuqtada turadi.
Agar so'rashsa: kalit .env faylida, u .gitignore va .dockerignore'da, javob modellarida esa kalit uchun umuman maydon yo'q.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Raqamlar bo'yicha qisqacha.
190 ta test bor. Ular asosan guardrail va ruxsatlarni tekshiradi — ya'ni eng xavfli joylarni, interfeys chiroyini emas.
Backend 15 ta router, frontend 25 ta sahifa. Umumiy hajm taxminan 27 ming satr.
Loyiha docker compose up bilan bitta buyruqda ishga tushadi.
Bu slaydni uzoq tushuntirmayman — agar mentor kodni ko'rmoqchi bo'lsa, safety.py va analysis.py dan boshlagan ma'qul.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slaydni ataylab qo'ydim, chunki texnik mentor baribir so'raydi.
Chap tomonda — hammasi haqiqiy va testlangan: guardrail, audit, governance, majburiy tartib, ruxsatlar, anonimlashtirish.
O'ng tomonda bitta narsa simulyatsiya: tasvirni o'qiydigan modelning o'zi. U mock, lekin Protocol interfeysi orqasida — real model kelsa, faqat bitta klass almashadi.
Nega shunday: bizning mavzuimiz model emas, model atrofidagi xavfsizlik karkasi. Karkas real bo'lmasa, loyihaning ma'nosi qolmaydi.
Va muhim: hech qanday real bemor ma'lumoti ishlatilmagan.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Xulosa bitta jumlada: PDF'dagi standart hech nimani o'zgartirmaydi, API majburlaydigan standart esa xulqni o'zgartiradi.
Keyingi qadamlar: real modelni ulash, klinik kontentni shifokor ko'rigidan o'tkazish va bitta talabalar guruhida pilot o'tkazish.
Rahmat. Savollarga tayyorman.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333D"/>
        </a:solidFill>
      </p:bgPr>
    </p:bg>
    <p:spTree>
      <p:nvGrpSpPr>
        <p:cNvPr id="1" name=""/>
        <p:cNvGrpSpPr/>
        <p:nvPr/>
      </p:nvGrpSpPr>
      <p:grpSpPr>
        <a:xfrm>
          <a:off x="0" y="0"/>
          <a:ext cx="0" cy="0"/>
          <a:chOff x="0" y="0"/>
          <a:chExt cx="0" cy="0"/>
        </a:xfrm>
      </p:grpSpPr>
      <p:sp>
        <p:nvSpPr>
          <p:cNvPr id="2" name="Shape 0"/>
          <p:cNvSpPr/>
          <p:nvPr/>
        </p:nvSpPr>
        <p:spPr>
          <a:xfrm>
            <a:off x="6858000" y="-1371600"/>
            <a:ext cx="4206240" cy="4206240"/>
          </a:xfrm>
          <a:prstGeom prst="ellipse">
            <a:avLst/>
          </a:prstGeom>
          <a:solidFill>
            <a:srgbClr val="028090">
              <a:alpha val="28000"/>
            </a:srgbClr>
          </a:solidFill>
          <a:ln w="12700">
            <a:solidFill>
              <a:srgbClr val="028090">
                <a:alpha val="0"/>
              </a:srgbClr>
            </a:solidFill>
            <a:prstDash val="solid"/>
          </a:ln>
        </p:spPr>
      </p:sp>
      <p:sp>
        <p:nvSpPr>
          <p:cNvPr id="3" name="Shape 1"/>
          <p:cNvSpPr/>
          <p:nvPr/>
        </p:nvSpPr>
        <p:spPr>
          <a:xfrm>
            <a:off x="7863840" y="2834640"/>
            <a:ext cx="2377440" cy="2377440"/>
          </a:xfrm>
          <a:prstGeom prst="ellipse">
            <a:avLst/>
          </a:prstGeom>
          <a:solidFill>
            <a:srgbClr val="02C39A">
              <a:alpha val="18000"/>
            </a:srgbClr>
          </a:solidFill>
          <a:ln w="12700">
            <a:solidFill>
              <a:srgbClr val="02C39A">
                <a:alpha val="0"/>
              </a:srgbClr>
            </a:solidFill>
            <a:prstDash val="solid"/>
          </a:ln>
        </p:spPr>
      </p:sp>
      <p:sp>
        <p:nvSpPr>
          <p:cNvPr id="4" name="Text 2"/>
          <p:cNvSpPr/>
          <p:nvPr/>
        </p:nvSpPr>
        <p:spPr>
          <a:xfrm>
            <a:off x="502920" y="1600200"/>
            <a:ext cx="6035040" cy="86868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Medly</a:t>
            </a:r>
            <a:endParaRPr lang="en-US" sz="5200" dirty="0"/>
          </a:p>
        </p:txBody>
      </p:sp>
      <p:sp>
        <p:nvSpPr>
          <p:cNvPr id="5" name="Text 3"/>
          <p:cNvSpPr/>
          <p:nvPr/>
        </p:nvSpPr>
        <p:spPr>
          <a:xfrm>
            <a:off x="502920" y="2487168"/>
            <a:ext cx="6035040" cy="457200"/>
          </a:xfrm>
          <a:prstGeom prst="rect">
            <a:avLst/>
          </a:prstGeom>
          <a:noFill/>
          <a:ln/>
        </p:spPr>
        <p:txBody>
          <a:bodyPr wrap="square" lIns="0" tIns="0" rIns="0" bIns="0" rtlCol="0" anchor="ctr"/>
          <a:lstStyle/>
          <a:p>
            <a:pPr indent="0" marL="0">
              <a:buNone/>
            </a:pPr>
            <a:r>
              <a:rPr lang="en-US" sz="1700" dirty="0">
                <a:solidFill>
                  <a:srgbClr val="02C39A"/>
                </a:solidFill>
                <a:latin typeface="Calibri" pitchFamily="34" charset="0"/>
                <a:ea typeface="Calibri" pitchFamily="34" charset="-122"/>
                <a:cs typeface="Calibri" pitchFamily="34" charset="-120"/>
              </a:rPr>
              <a:t>Tibbiyot ta'limi uchun AI xavfsizligi platformasi</a:t>
            </a:r>
            <a:endParaRPr lang="en-US" sz="1700" dirty="0"/>
          </a:p>
        </p:txBody>
      </p:sp>
      <p:sp>
        <p:nvSpPr>
          <p:cNvPr id="6" name="Text 4"/>
          <p:cNvSpPr/>
          <p:nvPr/>
        </p:nvSpPr>
        <p:spPr>
          <a:xfrm>
            <a:off x="502920" y="3017520"/>
            <a:ext cx="6035040" cy="329184"/>
          </a:xfrm>
          <a:prstGeom prst="rect">
            <a:avLst/>
          </a:prstGeom>
          <a:noFill/>
          <a:ln/>
        </p:spPr>
        <p:txBody>
          <a:bodyPr wrap="square" lIns="0" tIns="0" rIns="0" bIns="0" rtlCol="0" anchor="ctr"/>
          <a:lstStyle/>
          <a:p>
            <a:pPr indent="0" marL="0">
              <a:buNone/>
            </a:pPr>
            <a:r>
              <a:rPr lang="en-US" sz="1200" dirty="0">
                <a:solidFill>
                  <a:srgbClr val="9FB6BB"/>
                </a:solidFill>
                <a:latin typeface="Calibri" pitchFamily="34" charset="0"/>
                <a:ea typeface="Calibri" pitchFamily="34" charset="-122"/>
                <a:cs typeface="Calibri" pitchFamily="34" charset="-120"/>
              </a:rPr>
              <a:t>Hackathon loyihasi  ·  texnik ko'rib chiqish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84048"/>
            <a:ext cx="8138160" cy="548640"/>
          </a:xfrm>
          <a:prstGeom prst="rect">
            <a:avLst/>
          </a:prstGeom>
          <a:noFill/>
          <a:ln/>
        </p:spPr>
        <p:txBody>
          <a:bodyPr wrap="square" lIns="0" tIns="0" rIns="0" bIns="0" rtlCol="0" anchor="ctr"/>
          <a:lstStyle/>
          <a:p>
            <a:pPr indent="0" marL="0">
              <a:buNone/>
            </a:pPr>
            <a:r>
              <a:rPr lang="en-US" sz="3200" b="1" dirty="0">
                <a:solidFill>
                  <a:srgbClr val="12333B"/>
                </a:solidFill>
                <a:latin typeface="Cambria" pitchFamily="34" charset="0"/>
                <a:ea typeface="Cambria" pitchFamily="34" charset="-122"/>
                <a:cs typeface="Cambria" pitchFamily="34" charset="-120"/>
              </a:rPr>
              <a:t>Muammo</a:t>
            </a:r>
            <a:endParaRPr lang="en-US" sz="3200" dirty="0"/>
          </a:p>
        </p:txBody>
      </p:sp>
      <p:sp>
        <p:nvSpPr>
          <p:cNvPr id="3" name="Text 1"/>
          <p:cNvSpPr/>
          <p:nvPr/>
        </p:nvSpPr>
        <p:spPr>
          <a:xfrm>
            <a:off x="502920" y="932688"/>
            <a:ext cx="8138160" cy="310896"/>
          </a:xfrm>
          <a:prstGeom prst="rect">
            <a:avLst/>
          </a:prstGeom>
          <a:noFill/>
          <a:ln/>
        </p:spPr>
        <p:txBody>
          <a:bodyPr wrap="square" lIns="0" tIns="0" rIns="0" bIns="0" rtlCol="0" anchor="ctr"/>
          <a:lstStyle/>
          <a:p>
            <a:pPr indent="0" marL="0">
              <a:buNone/>
            </a:pPr>
            <a:r>
              <a:rPr lang="en-US" sz="1300" dirty="0">
                <a:solidFill>
                  <a:srgbClr val="5F7379"/>
                </a:solidFill>
                <a:latin typeface="Calibri" pitchFamily="34" charset="0"/>
                <a:ea typeface="Calibri" pitchFamily="34" charset="-122"/>
                <a:cs typeface="Calibri" pitchFamily="34" charset="-120"/>
              </a:rPr>
              <a:t>Nega bu loyiha kerak</a:t>
            </a:r>
            <a:endParaRPr lang="en-US" sz="1300" dirty="0"/>
          </a:p>
        </p:txBody>
      </p:sp>
      <p:sp>
        <p:nvSpPr>
          <p:cNvPr id="4" name="Shape 2"/>
          <p:cNvSpPr/>
          <p:nvPr/>
        </p:nvSpPr>
        <p:spPr>
          <a:xfrm>
            <a:off x="502920" y="1481328"/>
            <a:ext cx="8138160" cy="868680"/>
          </a:xfrm>
          <a:prstGeom prst="roundRect">
            <a:avLst>
              <a:gd name="adj" fmla="val 8421"/>
            </a:avLst>
          </a:prstGeom>
          <a:solidFill>
            <a:srgbClr val="EAF4F5"/>
          </a:solidFill>
          <a:ln w="12700">
            <a:solidFill>
              <a:srgbClr val="EAF4F5"/>
            </a:solidFill>
            <a:prstDash val="solid"/>
          </a:ln>
        </p:spPr>
      </p:sp>
      <p:sp>
        <p:nvSpPr>
          <p:cNvPr id="5" name="Shape 3"/>
          <p:cNvSpPr/>
          <p:nvPr/>
        </p:nvSpPr>
        <p:spPr>
          <a:xfrm>
            <a:off x="758952" y="1728216"/>
            <a:ext cx="384048" cy="384048"/>
          </a:xfrm>
          <a:prstGeom prst="ellipse">
            <a:avLst/>
          </a:prstGeom>
          <a:solidFill>
            <a:srgbClr val="028090"/>
          </a:solidFill>
          <a:ln w="12700">
            <a:solidFill>
              <a:srgbClr val="028090"/>
            </a:solidFill>
            <a:prstDash val="solid"/>
          </a:ln>
        </p:spPr>
      </p:sp>
      <p:sp>
        <p:nvSpPr>
          <p:cNvPr id="6" name="Text 4"/>
          <p:cNvSpPr/>
          <p:nvPr/>
        </p:nvSpPr>
        <p:spPr>
          <a:xfrm>
            <a:off x="758952" y="17282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44168" y="1609344"/>
            <a:ext cx="6949440" cy="292608"/>
          </a:xfrm>
          <a:prstGeom prst="rect">
            <a:avLst/>
          </a:prstGeom>
          <a:noFill/>
          <a:ln/>
        </p:spPr>
        <p:txBody>
          <a:bodyPr wrap="square" lIns="0" tIns="0" rIns="0" bIns="0" rtlCol="0" anchor="ctr"/>
          <a:lstStyle/>
          <a:p>
            <a:pPr indent="0" marL="0">
              <a:buNone/>
            </a:pPr>
            <a:r>
              <a:rPr lang="en-US" sz="1500" b="1" dirty="0">
                <a:solidFill>
                  <a:srgbClr val="12333B"/>
                </a:solidFill>
                <a:latin typeface="Calibri" pitchFamily="34" charset="0"/>
                <a:ea typeface="Calibri" pitchFamily="34" charset="-122"/>
                <a:cs typeface="Calibri" pitchFamily="34" charset="-120"/>
              </a:rPr>
              <a:t>AI allaqachon klinikada</a:t>
            </a:r>
            <a:endParaRPr lang="en-US" sz="1500" dirty="0"/>
          </a:p>
        </p:txBody>
      </p:sp>
      <p:sp>
        <p:nvSpPr>
          <p:cNvPr id="8" name="Text 6"/>
          <p:cNvSpPr/>
          <p:nvPr/>
        </p:nvSpPr>
        <p:spPr>
          <a:xfrm>
            <a:off x="1344168" y="1920240"/>
            <a:ext cx="6949440" cy="310896"/>
          </a:xfrm>
          <a:prstGeom prst="rect">
            <a:avLst/>
          </a:prstGeom>
          <a:noFill/>
          <a:ln/>
        </p:spPr>
        <p:txBody>
          <a:bodyPr wrap="square" lIns="0" tIns="0" rIns="0" bIns="0" rtlCol="0" anchor="ctr"/>
          <a:lstStyle/>
          <a:p>
            <a:pPr indent="0" marL="0">
              <a:buNone/>
            </a:pPr>
            <a:r>
              <a:rPr lang="en-US" sz="1250" dirty="0">
                <a:solidFill>
                  <a:srgbClr val="5F7379"/>
                </a:solidFill>
                <a:latin typeface="Calibri" pitchFamily="34" charset="0"/>
                <a:ea typeface="Calibri" pitchFamily="34" charset="-122"/>
                <a:cs typeface="Calibri" pitchFamily="34" charset="-120"/>
              </a:rPr>
              <a:t>Rentgen va KT tasvirlarini modellar o'qiyapti — bugun, amaliyotda.</a:t>
            </a:r>
            <a:endParaRPr lang="en-US" sz="1250" dirty="0"/>
          </a:p>
        </p:txBody>
      </p:sp>
      <p:sp>
        <p:nvSpPr>
          <p:cNvPr id="9" name="Shape 7"/>
          <p:cNvSpPr/>
          <p:nvPr/>
        </p:nvSpPr>
        <p:spPr>
          <a:xfrm>
            <a:off x="502920" y="2505456"/>
            <a:ext cx="8138160" cy="868680"/>
          </a:xfrm>
          <a:prstGeom prst="roundRect">
            <a:avLst>
              <a:gd name="adj" fmla="val 8421"/>
            </a:avLst>
          </a:prstGeom>
          <a:solidFill>
            <a:srgbClr val="EAF4F5"/>
          </a:solidFill>
          <a:ln w="12700">
            <a:solidFill>
              <a:srgbClr val="EAF4F5"/>
            </a:solidFill>
            <a:prstDash val="solid"/>
          </a:ln>
        </p:spPr>
      </p:sp>
      <p:sp>
        <p:nvSpPr>
          <p:cNvPr id="10" name="Shape 8"/>
          <p:cNvSpPr/>
          <p:nvPr/>
        </p:nvSpPr>
        <p:spPr>
          <a:xfrm>
            <a:off x="758952" y="2752344"/>
            <a:ext cx="384048" cy="384048"/>
          </a:xfrm>
          <a:prstGeom prst="ellipse">
            <a:avLst/>
          </a:prstGeom>
          <a:solidFill>
            <a:srgbClr val="028090"/>
          </a:solidFill>
          <a:ln w="12700">
            <a:solidFill>
              <a:srgbClr val="028090"/>
            </a:solidFill>
            <a:prstDash val="solid"/>
          </a:ln>
        </p:spPr>
      </p:sp>
      <p:sp>
        <p:nvSpPr>
          <p:cNvPr id="11" name="Text 9"/>
          <p:cNvSpPr/>
          <p:nvPr/>
        </p:nvSpPr>
        <p:spPr>
          <a:xfrm>
            <a:off x="758952" y="27523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344168" y="2633472"/>
            <a:ext cx="6949440" cy="292608"/>
          </a:xfrm>
          <a:prstGeom prst="rect">
            <a:avLst/>
          </a:prstGeom>
          <a:noFill/>
          <a:ln/>
        </p:spPr>
        <p:txBody>
          <a:bodyPr wrap="square" lIns="0" tIns="0" rIns="0" bIns="0" rtlCol="0" anchor="ctr"/>
          <a:lstStyle/>
          <a:p>
            <a:pPr indent="0" marL="0">
              <a:buNone/>
            </a:pPr>
            <a:r>
              <a:rPr lang="en-US" sz="1500" b="1" dirty="0">
                <a:solidFill>
                  <a:srgbClr val="12333B"/>
                </a:solidFill>
                <a:latin typeface="Calibri" pitchFamily="34" charset="0"/>
                <a:ea typeface="Calibri" pitchFamily="34" charset="-122"/>
                <a:cs typeface="Calibri" pitchFamily="34" charset="-120"/>
              </a:rPr>
              <a:t>Ta'limda AI moduli yo'q</a:t>
            </a:r>
            <a:endParaRPr lang="en-US" sz="1500" dirty="0"/>
          </a:p>
        </p:txBody>
      </p:sp>
      <p:sp>
        <p:nvSpPr>
          <p:cNvPr id="13" name="Text 11"/>
          <p:cNvSpPr/>
          <p:nvPr/>
        </p:nvSpPr>
        <p:spPr>
          <a:xfrm>
            <a:off x="1344168" y="2944368"/>
            <a:ext cx="6949440" cy="310896"/>
          </a:xfrm>
          <a:prstGeom prst="rect">
            <a:avLst/>
          </a:prstGeom>
          <a:noFill/>
          <a:ln/>
        </p:spPr>
        <p:txBody>
          <a:bodyPr wrap="square" lIns="0" tIns="0" rIns="0" bIns="0" rtlCol="0" anchor="ctr"/>
          <a:lstStyle/>
          <a:p>
            <a:pPr indent="0" marL="0">
              <a:buNone/>
            </a:pPr>
            <a:r>
              <a:rPr lang="en-US" sz="1250" dirty="0">
                <a:solidFill>
                  <a:srgbClr val="5F7379"/>
                </a:solidFill>
                <a:latin typeface="Calibri" pitchFamily="34" charset="0"/>
                <a:ea typeface="Calibri" pitchFamily="34" charset="-122"/>
                <a:cs typeface="Calibri" pitchFamily="34" charset="-120"/>
              </a:rPr>
              <a:t>Tibbiyot o'quv dasturida bu vositalarni tanqidiy baholash o'rgatilmaydi.</a:t>
            </a:r>
            <a:endParaRPr lang="en-US" sz="1250" dirty="0"/>
          </a:p>
        </p:txBody>
      </p:sp>
      <p:sp>
        <p:nvSpPr>
          <p:cNvPr id="14" name="Shape 12"/>
          <p:cNvSpPr/>
          <p:nvPr/>
        </p:nvSpPr>
        <p:spPr>
          <a:xfrm>
            <a:off x="502920" y="3529584"/>
            <a:ext cx="8138160" cy="868680"/>
          </a:xfrm>
          <a:prstGeom prst="roundRect">
            <a:avLst>
              <a:gd name="adj" fmla="val 8421"/>
            </a:avLst>
          </a:prstGeom>
          <a:solidFill>
            <a:srgbClr val="FCEDE8"/>
          </a:solidFill>
          <a:ln w="12700">
            <a:solidFill>
              <a:srgbClr val="FCEDE8"/>
            </a:solidFill>
            <a:prstDash val="solid"/>
          </a:ln>
        </p:spPr>
      </p:sp>
      <p:sp>
        <p:nvSpPr>
          <p:cNvPr id="15" name="Shape 13"/>
          <p:cNvSpPr/>
          <p:nvPr/>
        </p:nvSpPr>
        <p:spPr>
          <a:xfrm>
            <a:off x="758952" y="3776472"/>
            <a:ext cx="384048" cy="384048"/>
          </a:xfrm>
          <a:prstGeom prst="ellipse">
            <a:avLst/>
          </a:prstGeom>
          <a:solidFill>
            <a:srgbClr val="E4572E"/>
          </a:solidFill>
          <a:ln w="12700">
            <a:solidFill>
              <a:srgbClr val="E4572E"/>
            </a:solidFill>
            <a:prstDash val="solid"/>
          </a:ln>
        </p:spPr>
      </p:sp>
      <p:sp>
        <p:nvSpPr>
          <p:cNvPr id="16" name="Text 14"/>
          <p:cNvSpPr/>
          <p:nvPr/>
        </p:nvSpPr>
        <p:spPr>
          <a:xfrm>
            <a:off x="758952" y="37764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344168" y="3657600"/>
            <a:ext cx="6949440" cy="292608"/>
          </a:xfrm>
          <a:prstGeom prst="rect">
            <a:avLst/>
          </a:prstGeom>
          <a:noFill/>
          <a:ln/>
        </p:spPr>
        <p:txBody>
          <a:bodyPr wrap="square" lIns="0" tIns="0" rIns="0" bIns="0" rtlCol="0" anchor="ctr"/>
          <a:lstStyle/>
          <a:p>
            <a:pPr indent="0" marL="0">
              <a:buNone/>
            </a:pPr>
            <a:r>
              <a:rPr lang="en-US" sz="1500" b="1" dirty="0">
                <a:solidFill>
                  <a:srgbClr val="E4572E"/>
                </a:solidFill>
                <a:latin typeface="Calibri" pitchFamily="34" charset="0"/>
                <a:ea typeface="Calibri" pitchFamily="34" charset="-122"/>
                <a:cs typeface="Calibri" pitchFamily="34" charset="-120"/>
              </a:rPr>
              <a:t>Avtomatlashtirish tarafkashligi</a:t>
            </a:r>
            <a:endParaRPr lang="en-US" sz="1500" dirty="0"/>
          </a:p>
        </p:txBody>
      </p:sp>
      <p:sp>
        <p:nvSpPr>
          <p:cNvPr id="18" name="Text 16"/>
          <p:cNvSpPr/>
          <p:nvPr/>
        </p:nvSpPr>
        <p:spPr>
          <a:xfrm>
            <a:off x="1344168" y="3968496"/>
            <a:ext cx="6949440" cy="310896"/>
          </a:xfrm>
          <a:prstGeom prst="rect">
            <a:avLst/>
          </a:prstGeom>
          <a:noFill/>
          <a:ln/>
        </p:spPr>
        <p:txBody>
          <a:bodyPr wrap="square" lIns="0" tIns="0" rIns="0" bIns="0" rtlCol="0" anchor="ctr"/>
          <a:lstStyle/>
          <a:p>
            <a:pPr indent="0" marL="0">
              <a:buNone/>
            </a:pPr>
            <a:r>
              <a:rPr lang="en-US" sz="1250" dirty="0">
                <a:solidFill>
                  <a:srgbClr val="5F7379"/>
                </a:solidFill>
                <a:latin typeface="Calibri" pitchFamily="34" charset="0"/>
                <a:ea typeface="Calibri" pitchFamily="34" charset="-122"/>
                <a:cs typeface="Calibri" pitchFamily="34" charset="-120"/>
              </a:rPr>
              <a:t>Natija: hech kim o'rganmagan vositaga so'roqsiz ishonch.</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84048"/>
            <a:ext cx="8138160" cy="548640"/>
          </a:xfrm>
          <a:prstGeom prst="rect">
            <a:avLst/>
          </a:prstGeom>
          <a:noFill/>
          <a:ln/>
        </p:spPr>
        <p:txBody>
          <a:bodyPr wrap="square" lIns="0" tIns="0" rIns="0" bIns="0" rtlCol="0" anchor="ctr"/>
          <a:lstStyle/>
          <a:p>
            <a:pPr indent="0" marL="0">
              <a:buNone/>
            </a:pPr>
            <a:r>
              <a:rPr lang="en-US" sz="3200" b="1" dirty="0">
                <a:solidFill>
                  <a:srgbClr val="12333B"/>
                </a:solidFill>
                <a:latin typeface="Cambria" pitchFamily="34" charset="0"/>
                <a:ea typeface="Cambria" pitchFamily="34" charset="-122"/>
                <a:cs typeface="Cambria" pitchFamily="34" charset="-120"/>
              </a:rPr>
              <a:t>Biz nima taqdim etamiz</a:t>
            </a:r>
            <a:endParaRPr lang="en-US" sz="3200" dirty="0"/>
          </a:p>
        </p:txBody>
      </p:sp>
      <p:sp>
        <p:nvSpPr>
          <p:cNvPr id="3" name="Text 1"/>
          <p:cNvSpPr/>
          <p:nvPr/>
        </p:nvSpPr>
        <p:spPr>
          <a:xfrm>
            <a:off x="502920" y="932688"/>
            <a:ext cx="8138160" cy="310896"/>
          </a:xfrm>
          <a:prstGeom prst="rect">
            <a:avLst/>
          </a:prstGeom>
          <a:noFill/>
          <a:ln/>
        </p:spPr>
        <p:txBody>
          <a:bodyPr wrap="square" lIns="0" tIns="0" rIns="0" bIns="0" rtlCol="0" anchor="ctr"/>
          <a:lstStyle/>
          <a:p>
            <a:pPr indent="0" marL="0">
              <a:buNone/>
            </a:pPr>
            <a:r>
              <a:rPr lang="en-US" sz="1300" dirty="0">
                <a:solidFill>
                  <a:srgbClr val="5F7379"/>
                </a:solidFill>
                <a:latin typeface="Calibri" pitchFamily="34" charset="0"/>
                <a:ea typeface="Calibri" pitchFamily="34" charset="-122"/>
                <a:cs typeface="Calibri" pitchFamily="34" charset="-120"/>
              </a:rPr>
              <a:t>Mahsulot tavsifi</a:t>
            </a:r>
            <a:endParaRPr lang="en-US" sz="1300" dirty="0"/>
          </a:p>
        </p:txBody>
      </p:sp>
      <p:sp>
        <p:nvSpPr>
          <p:cNvPr id="4" name="Shape 2"/>
          <p:cNvSpPr/>
          <p:nvPr/>
        </p:nvSpPr>
        <p:spPr>
          <a:xfrm>
            <a:off x="502920" y="1371600"/>
            <a:ext cx="8138160" cy="841248"/>
          </a:xfrm>
          <a:prstGeom prst="roundRect">
            <a:avLst>
              <a:gd name="adj" fmla="val 8696"/>
            </a:avLst>
          </a:prstGeom>
          <a:solidFill>
            <a:srgbClr val="EAF4F5"/>
          </a:solidFill>
          <a:ln w="12700">
            <a:solidFill>
              <a:srgbClr val="EAF4F5"/>
            </a:solidFill>
            <a:prstDash val="solid"/>
          </a:ln>
        </p:spPr>
      </p:sp>
      <p:sp>
        <p:nvSpPr>
          <p:cNvPr id="5" name="Text 3"/>
          <p:cNvSpPr/>
          <p:nvPr/>
        </p:nvSpPr>
        <p:spPr>
          <a:xfrm>
            <a:off x="777240" y="1481328"/>
            <a:ext cx="7589520" cy="621792"/>
          </a:xfrm>
          <a:prstGeom prst="rect">
            <a:avLst/>
          </a:prstGeom>
          <a:noFill/>
          <a:ln/>
        </p:spPr>
        <p:txBody>
          <a:bodyPr wrap="square" lIns="0" tIns="0" rIns="0" bIns="0" rtlCol="0" anchor="ctr"/>
          <a:lstStyle/>
          <a:p>
            <a:pPr indent="0" marL="0">
              <a:buNone/>
            </a:pPr>
            <a:r>
              <a:rPr lang="en-US" sz="1450" dirty="0">
                <a:solidFill>
                  <a:srgbClr val="12333B"/>
                </a:solidFill>
                <a:latin typeface="Calibri" pitchFamily="34" charset="0"/>
                <a:ea typeface="Calibri" pitchFamily="34" charset="-122"/>
                <a:cs typeface="Calibri" pitchFamily="34" charset="-120"/>
              </a:rPr>
              <a:t>Medly — talabaga klinik AI qanday ishlashini, qayerda xato qilishini va uni qanday tekshirishni o'rgatadigan ta'lim platformasi.</a:t>
            </a:r>
            <a:endParaRPr lang="en-US" sz="1450" dirty="0"/>
          </a:p>
        </p:txBody>
      </p:sp>
      <p:sp>
        <p:nvSpPr>
          <p:cNvPr id="6" name="Shape 4"/>
          <p:cNvSpPr/>
          <p:nvPr/>
        </p:nvSpPr>
        <p:spPr>
          <a:xfrm>
            <a:off x="502920" y="2487168"/>
            <a:ext cx="2560320" cy="1481328"/>
          </a:xfrm>
          <a:prstGeom prst="roundRect">
            <a:avLst>
              <a:gd name="adj" fmla="val 4938"/>
            </a:avLst>
          </a:prstGeom>
          <a:solidFill>
            <a:srgbClr val="FFFFFF"/>
          </a:solidFill>
          <a:ln w="12700">
            <a:solidFill>
              <a:srgbClr val="FFFFFF"/>
            </a:solidFill>
            <a:prstDash val="solid"/>
          </a:ln>
        </p:spPr>
      </p:sp>
      <p:sp>
        <p:nvSpPr>
          <p:cNvPr id="7" name="Shape 5"/>
          <p:cNvSpPr/>
          <p:nvPr/>
        </p:nvSpPr>
        <p:spPr>
          <a:xfrm>
            <a:off x="502920" y="2487168"/>
            <a:ext cx="2560320" cy="1481328"/>
          </a:xfrm>
          <a:prstGeom prst="roundRect">
            <a:avLst>
              <a:gd name="adj" fmla="val 4938"/>
            </a:avLst>
          </a:prstGeom>
          <a:solidFill>
            <a:srgbClr val="FFFFFF"/>
          </a:solidFill>
          <a:ln w="12700">
            <a:solidFill>
              <a:srgbClr val="D3E4E6"/>
            </a:solidFill>
            <a:prstDash val="solid"/>
          </a:ln>
        </p:spPr>
      </p:sp>
      <p:sp>
        <p:nvSpPr>
          <p:cNvPr id="8" name="Shape 6"/>
          <p:cNvSpPr/>
          <p:nvPr/>
        </p:nvSpPr>
        <p:spPr>
          <a:xfrm>
            <a:off x="758952" y="2724912"/>
            <a:ext cx="274320" cy="274320"/>
          </a:xfrm>
          <a:prstGeom prst="ellipse">
            <a:avLst/>
          </a:prstGeom>
          <a:solidFill>
            <a:srgbClr val="028090"/>
          </a:solidFill>
          <a:ln w="12700">
            <a:solidFill>
              <a:srgbClr val="028090"/>
            </a:solidFill>
            <a:prstDash val="solid"/>
          </a:ln>
        </p:spPr>
      </p:sp>
      <p:sp>
        <p:nvSpPr>
          <p:cNvPr id="9" name="Text 7"/>
          <p:cNvSpPr/>
          <p:nvPr/>
        </p:nvSpPr>
        <p:spPr>
          <a:xfrm>
            <a:off x="758952" y="3108960"/>
            <a:ext cx="2048256" cy="274320"/>
          </a:xfrm>
          <a:prstGeom prst="rect">
            <a:avLst/>
          </a:prstGeom>
          <a:noFill/>
          <a:ln/>
        </p:spPr>
        <p:txBody>
          <a:bodyPr wrap="square" lIns="0" tIns="0" rIns="0" bIns="0" rtlCol="0" anchor="ctr"/>
          <a:lstStyle/>
          <a:p>
            <a:pPr indent="0" marL="0">
              <a:buNone/>
            </a:pPr>
            <a:r>
              <a:rPr lang="en-US" sz="1450" b="1" dirty="0">
                <a:solidFill>
                  <a:srgbClr val="12333B"/>
                </a:solidFill>
                <a:latin typeface="Calibri" pitchFamily="34" charset="0"/>
                <a:ea typeface="Calibri" pitchFamily="34" charset="-122"/>
                <a:cs typeface="Calibri" pitchFamily="34" charset="-120"/>
              </a:rPr>
              <a:t>O'quv dasturi</a:t>
            </a:r>
            <a:endParaRPr lang="en-US" sz="1450" dirty="0"/>
          </a:p>
        </p:txBody>
      </p:sp>
      <p:sp>
        <p:nvSpPr>
          <p:cNvPr id="10" name="Text 8"/>
          <p:cNvSpPr/>
          <p:nvPr/>
        </p:nvSpPr>
        <p:spPr>
          <a:xfrm>
            <a:off x="758952" y="3401568"/>
            <a:ext cx="2048256" cy="530352"/>
          </a:xfrm>
          <a:prstGeom prst="rect">
            <a:avLst/>
          </a:prstGeom>
          <a:noFill/>
          <a:ln/>
        </p:spPr>
        <p:txBody>
          <a:bodyPr wrap="square" lIns="0" tIns="0" rIns="0" bIns="0" rtlCol="0" anchor="ctr"/>
          <a:lstStyle/>
          <a:p>
            <a:pPr indent="0" marL="0">
              <a:buNone/>
            </a:pPr>
            <a:r>
              <a:rPr lang="en-US" sz="1150" dirty="0">
                <a:solidFill>
                  <a:srgbClr val="5F7379"/>
                </a:solidFill>
                <a:latin typeface="Calibri" pitchFamily="34" charset="0"/>
                <a:ea typeface="Calibri" pitchFamily="34" charset="-122"/>
                <a:cs typeface="Calibri" pitchFamily="34" charset="-120"/>
              </a:rPr>
              <a:t>Modellar qanday ishlaydi va qayerda xato qiladi</a:t>
            </a:r>
            <a:endParaRPr lang="en-US" sz="1150" dirty="0"/>
          </a:p>
        </p:txBody>
      </p:sp>
      <p:sp>
        <p:nvSpPr>
          <p:cNvPr id="11" name="Shape 9"/>
          <p:cNvSpPr/>
          <p:nvPr/>
        </p:nvSpPr>
        <p:spPr>
          <a:xfrm>
            <a:off x="3291840" y="2487168"/>
            <a:ext cx="2560320" cy="1481328"/>
          </a:xfrm>
          <a:prstGeom prst="roundRect">
            <a:avLst>
              <a:gd name="adj" fmla="val 4938"/>
            </a:avLst>
          </a:prstGeom>
          <a:solidFill>
            <a:srgbClr val="FFFFFF"/>
          </a:solidFill>
          <a:ln w="12700">
            <a:solidFill>
              <a:srgbClr val="FFFFFF"/>
            </a:solidFill>
            <a:prstDash val="solid"/>
          </a:ln>
        </p:spPr>
      </p:sp>
      <p:sp>
        <p:nvSpPr>
          <p:cNvPr id="12" name="Shape 10"/>
          <p:cNvSpPr/>
          <p:nvPr/>
        </p:nvSpPr>
        <p:spPr>
          <a:xfrm>
            <a:off x="3291840" y="2487168"/>
            <a:ext cx="2560320" cy="1481328"/>
          </a:xfrm>
          <a:prstGeom prst="roundRect">
            <a:avLst>
              <a:gd name="adj" fmla="val 4938"/>
            </a:avLst>
          </a:prstGeom>
          <a:solidFill>
            <a:srgbClr val="FFFFFF"/>
          </a:solidFill>
          <a:ln w="12700">
            <a:solidFill>
              <a:srgbClr val="D3E4E6"/>
            </a:solidFill>
            <a:prstDash val="solid"/>
          </a:ln>
        </p:spPr>
      </p:sp>
      <p:sp>
        <p:nvSpPr>
          <p:cNvPr id="13" name="Shape 11"/>
          <p:cNvSpPr/>
          <p:nvPr/>
        </p:nvSpPr>
        <p:spPr>
          <a:xfrm>
            <a:off x="3547872" y="2724912"/>
            <a:ext cx="274320" cy="274320"/>
          </a:xfrm>
          <a:prstGeom prst="ellipse">
            <a:avLst/>
          </a:prstGeom>
          <a:solidFill>
            <a:srgbClr val="02C39A"/>
          </a:solidFill>
          <a:ln w="12700">
            <a:solidFill>
              <a:srgbClr val="02C39A"/>
            </a:solidFill>
            <a:prstDash val="solid"/>
          </a:ln>
        </p:spPr>
      </p:sp>
      <p:sp>
        <p:nvSpPr>
          <p:cNvPr id="14" name="Text 12"/>
          <p:cNvSpPr/>
          <p:nvPr/>
        </p:nvSpPr>
        <p:spPr>
          <a:xfrm>
            <a:off x="3547872" y="3108960"/>
            <a:ext cx="2048256" cy="274320"/>
          </a:xfrm>
          <a:prstGeom prst="rect">
            <a:avLst/>
          </a:prstGeom>
          <a:noFill/>
          <a:ln/>
        </p:spPr>
        <p:txBody>
          <a:bodyPr wrap="square" lIns="0" tIns="0" rIns="0" bIns="0" rtlCol="0" anchor="ctr"/>
          <a:lstStyle/>
          <a:p>
            <a:pPr indent="0" marL="0">
              <a:buNone/>
            </a:pPr>
            <a:r>
              <a:rPr lang="en-US" sz="1450" b="1" dirty="0">
                <a:solidFill>
                  <a:srgbClr val="12333B"/>
                </a:solidFill>
                <a:latin typeface="Calibri" pitchFamily="34" charset="0"/>
                <a:ea typeface="Calibri" pitchFamily="34" charset="-122"/>
                <a:cs typeface="Calibri" pitchFamily="34" charset="-120"/>
              </a:rPr>
              <a:t>Xavfsizlik qatlami</a:t>
            </a:r>
            <a:endParaRPr lang="en-US" sz="1450" dirty="0"/>
          </a:p>
        </p:txBody>
      </p:sp>
      <p:sp>
        <p:nvSpPr>
          <p:cNvPr id="15" name="Text 13"/>
          <p:cNvSpPr/>
          <p:nvPr/>
        </p:nvSpPr>
        <p:spPr>
          <a:xfrm>
            <a:off x="3547872" y="3401568"/>
            <a:ext cx="2048256" cy="530352"/>
          </a:xfrm>
          <a:prstGeom prst="rect">
            <a:avLst/>
          </a:prstGeom>
          <a:noFill/>
          <a:ln/>
        </p:spPr>
        <p:txBody>
          <a:bodyPr wrap="square" lIns="0" tIns="0" rIns="0" bIns="0" rtlCol="0" anchor="ctr"/>
          <a:lstStyle/>
          <a:p>
            <a:pPr indent="0" marL="0">
              <a:buNone/>
            </a:pPr>
            <a:r>
              <a:rPr lang="en-US" sz="1150" dirty="0">
                <a:solidFill>
                  <a:srgbClr val="5F7379"/>
                </a:solidFill>
                <a:latin typeface="Calibri" pitchFamily="34" charset="0"/>
                <a:ea typeface="Calibri" pitchFamily="34" charset="-122"/>
                <a:cs typeface="Calibri" pitchFamily="34" charset="-120"/>
              </a:rPr>
              <a:t>Qoidalar hujjatda emas — server kodida</a:t>
            </a:r>
            <a:endParaRPr lang="en-US" sz="1150" dirty="0"/>
          </a:p>
        </p:txBody>
      </p:sp>
      <p:sp>
        <p:nvSpPr>
          <p:cNvPr id="16" name="Shape 14"/>
          <p:cNvSpPr/>
          <p:nvPr/>
        </p:nvSpPr>
        <p:spPr>
          <a:xfrm>
            <a:off x="6080760" y="2487168"/>
            <a:ext cx="2560320" cy="1481328"/>
          </a:xfrm>
          <a:prstGeom prst="roundRect">
            <a:avLst>
              <a:gd name="adj" fmla="val 4938"/>
            </a:avLst>
          </a:prstGeom>
          <a:solidFill>
            <a:srgbClr val="FFFFFF"/>
          </a:solidFill>
          <a:ln w="12700">
            <a:solidFill>
              <a:srgbClr val="FFFFFF"/>
            </a:solidFill>
            <a:prstDash val="solid"/>
          </a:ln>
        </p:spPr>
      </p:sp>
      <p:sp>
        <p:nvSpPr>
          <p:cNvPr id="17" name="Shape 15"/>
          <p:cNvSpPr/>
          <p:nvPr/>
        </p:nvSpPr>
        <p:spPr>
          <a:xfrm>
            <a:off x="6080760" y="2487168"/>
            <a:ext cx="2560320" cy="1481328"/>
          </a:xfrm>
          <a:prstGeom prst="roundRect">
            <a:avLst>
              <a:gd name="adj" fmla="val 4938"/>
            </a:avLst>
          </a:prstGeom>
          <a:solidFill>
            <a:srgbClr val="FFFFFF"/>
          </a:solidFill>
          <a:ln w="12700">
            <a:solidFill>
              <a:srgbClr val="D3E4E6"/>
            </a:solidFill>
            <a:prstDash val="solid"/>
          </a:ln>
        </p:spPr>
      </p:sp>
      <p:sp>
        <p:nvSpPr>
          <p:cNvPr id="18" name="Shape 16"/>
          <p:cNvSpPr/>
          <p:nvPr/>
        </p:nvSpPr>
        <p:spPr>
          <a:xfrm>
            <a:off x="6336792" y="2724912"/>
            <a:ext cx="274320" cy="274320"/>
          </a:xfrm>
          <a:prstGeom prst="ellipse">
            <a:avLst/>
          </a:prstGeom>
          <a:solidFill>
            <a:srgbClr val="06333D"/>
          </a:solidFill>
          <a:ln w="12700">
            <a:solidFill>
              <a:srgbClr val="06333D"/>
            </a:solidFill>
            <a:prstDash val="solid"/>
          </a:ln>
        </p:spPr>
      </p:sp>
      <p:sp>
        <p:nvSpPr>
          <p:cNvPr id="19" name="Text 17"/>
          <p:cNvSpPr/>
          <p:nvPr/>
        </p:nvSpPr>
        <p:spPr>
          <a:xfrm>
            <a:off x="6336792" y="3108960"/>
            <a:ext cx="2048256" cy="274320"/>
          </a:xfrm>
          <a:prstGeom prst="rect">
            <a:avLst/>
          </a:prstGeom>
          <a:noFill/>
          <a:ln/>
        </p:spPr>
        <p:txBody>
          <a:bodyPr wrap="square" lIns="0" tIns="0" rIns="0" bIns="0" rtlCol="0" anchor="ctr"/>
          <a:lstStyle/>
          <a:p>
            <a:pPr indent="0" marL="0">
              <a:buNone/>
            </a:pPr>
            <a:r>
              <a:rPr lang="en-US" sz="1450" b="1" dirty="0">
                <a:solidFill>
                  <a:srgbClr val="12333B"/>
                </a:solidFill>
                <a:latin typeface="Calibri" pitchFamily="34" charset="0"/>
                <a:ea typeface="Calibri" pitchFamily="34" charset="-122"/>
                <a:cs typeface="Calibri" pitchFamily="34" charset="-120"/>
              </a:rPr>
              <a:t>Audit izi</a:t>
            </a:r>
            <a:endParaRPr lang="en-US" sz="1450" dirty="0"/>
          </a:p>
        </p:txBody>
      </p:sp>
      <p:sp>
        <p:nvSpPr>
          <p:cNvPr id="20" name="Text 18"/>
          <p:cNvSpPr/>
          <p:nvPr/>
        </p:nvSpPr>
        <p:spPr>
          <a:xfrm>
            <a:off x="6336792" y="3401568"/>
            <a:ext cx="2048256" cy="530352"/>
          </a:xfrm>
          <a:prstGeom prst="rect">
            <a:avLst/>
          </a:prstGeom>
          <a:noFill/>
          <a:ln/>
        </p:spPr>
        <p:txBody>
          <a:bodyPr wrap="square" lIns="0" tIns="0" rIns="0" bIns="0" rtlCol="0" anchor="ctr"/>
          <a:lstStyle/>
          <a:p>
            <a:pPr indent="0" marL="0">
              <a:buNone/>
            </a:pPr>
            <a:r>
              <a:rPr lang="en-US" sz="1150" dirty="0">
                <a:solidFill>
                  <a:srgbClr val="5F7379"/>
                </a:solidFill>
                <a:latin typeface="Calibri" pitchFamily="34" charset="0"/>
                <a:ea typeface="Calibri" pitchFamily="34" charset="-122"/>
                <a:cs typeface="Calibri" pitchFamily="34" charset="-120"/>
              </a:rPr>
              <a:t>Har bir AI qarori nomi bor insonga bog'lanadi</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84048"/>
            <a:ext cx="8138160" cy="548640"/>
          </a:xfrm>
          <a:prstGeom prst="rect">
            <a:avLst/>
          </a:prstGeom>
          <a:noFill/>
          <a:ln/>
        </p:spPr>
        <p:txBody>
          <a:bodyPr wrap="square" lIns="0" tIns="0" rIns="0" bIns="0" rtlCol="0" anchor="ctr"/>
          <a:lstStyle/>
          <a:p>
            <a:pPr indent="0" marL="0">
              <a:buNone/>
            </a:pPr>
            <a:r>
              <a:rPr lang="en-US" sz="3200" b="1" dirty="0">
                <a:solidFill>
                  <a:srgbClr val="12333B"/>
                </a:solidFill>
                <a:latin typeface="Cambria" pitchFamily="34" charset="0"/>
                <a:ea typeface="Cambria" pitchFamily="34" charset="-122"/>
                <a:cs typeface="Cambria" pitchFamily="34" charset="-120"/>
              </a:rPr>
              <a:t>Asosiy funksiya</a:t>
            </a:r>
            <a:endParaRPr lang="en-US" sz="3200" dirty="0"/>
          </a:p>
        </p:txBody>
      </p:sp>
      <p:sp>
        <p:nvSpPr>
          <p:cNvPr id="3" name="Text 1"/>
          <p:cNvSpPr/>
          <p:nvPr/>
        </p:nvSpPr>
        <p:spPr>
          <a:xfrm>
            <a:off x="502920" y="932688"/>
            <a:ext cx="8138160" cy="310896"/>
          </a:xfrm>
          <a:prstGeom prst="rect">
            <a:avLst/>
          </a:prstGeom>
          <a:noFill/>
          <a:ln/>
        </p:spPr>
        <p:txBody>
          <a:bodyPr wrap="square" lIns="0" tIns="0" rIns="0" bIns="0" rtlCol="0" anchor="ctr"/>
          <a:lstStyle/>
          <a:p>
            <a:pPr indent="0" marL="0">
              <a:buNone/>
            </a:pPr>
            <a:r>
              <a:rPr lang="en-US" sz="1300" dirty="0">
                <a:solidFill>
                  <a:srgbClr val="5F7379"/>
                </a:solidFill>
                <a:latin typeface="Calibri" pitchFamily="34" charset="0"/>
                <a:ea typeface="Calibri" pitchFamily="34" charset="-122"/>
                <a:cs typeface="Calibri" pitchFamily="34" charset="-120"/>
              </a:rPr>
              <a:t>To'rt qadamli majburiy tartib</a:t>
            </a:r>
            <a:endParaRPr lang="en-US" sz="1300" dirty="0"/>
          </a:p>
        </p:txBody>
      </p:sp>
      <p:sp>
        <p:nvSpPr>
          <p:cNvPr id="4" name="Shape 2"/>
          <p:cNvSpPr/>
          <p:nvPr/>
        </p:nvSpPr>
        <p:spPr>
          <a:xfrm>
            <a:off x="502920" y="1444752"/>
            <a:ext cx="1869948" cy="1024128"/>
          </a:xfrm>
          <a:prstGeom prst="roundRect">
            <a:avLst>
              <a:gd name="adj" fmla="val 7143"/>
            </a:avLst>
          </a:prstGeom>
          <a:solidFill>
            <a:srgbClr val="EAF4F5"/>
          </a:solidFill>
          <a:ln w="12700">
            <a:solidFill>
              <a:srgbClr val="EAF4F5"/>
            </a:solidFill>
            <a:prstDash val="solid"/>
          </a:ln>
        </p:spPr>
      </p:sp>
      <p:sp>
        <p:nvSpPr>
          <p:cNvPr id="5" name="Text 3"/>
          <p:cNvSpPr/>
          <p:nvPr/>
        </p:nvSpPr>
        <p:spPr>
          <a:xfrm>
            <a:off x="649224" y="1572768"/>
            <a:ext cx="1577340" cy="310896"/>
          </a:xfrm>
          <a:prstGeom prst="rect">
            <a:avLst/>
          </a:prstGeom>
          <a:noFill/>
          <a:ln/>
        </p:spPr>
        <p:txBody>
          <a:bodyPr wrap="square" lIns="0" tIns="0" rIns="0" bIns="0" rtlCol="0" anchor="ctr"/>
          <a:lstStyle/>
          <a:p>
            <a:pPr indent="0" marL="0">
              <a:buNone/>
            </a:pPr>
            <a:r>
              <a:rPr lang="en-US" sz="1350" b="1" dirty="0">
                <a:solidFill>
                  <a:srgbClr val="12333B"/>
                </a:solidFill>
                <a:latin typeface="Calibri" pitchFamily="34" charset="0"/>
                <a:ea typeface="Calibri" pitchFamily="34" charset="-122"/>
                <a:cs typeface="Calibri" pitchFamily="34" charset="-120"/>
              </a:rPr>
              <a:t>Case</a:t>
            </a:r>
            <a:endParaRPr lang="en-US" sz="1350" dirty="0"/>
          </a:p>
        </p:txBody>
      </p:sp>
      <p:sp>
        <p:nvSpPr>
          <p:cNvPr id="6" name="Text 4"/>
          <p:cNvSpPr/>
          <p:nvPr/>
        </p:nvSpPr>
        <p:spPr>
          <a:xfrm>
            <a:off x="649224" y="1883664"/>
            <a:ext cx="1577340" cy="457200"/>
          </a:xfrm>
          <a:prstGeom prst="rect">
            <a:avLst/>
          </a:prstGeom>
          <a:noFill/>
          <a:ln/>
        </p:spPr>
        <p:txBody>
          <a:bodyPr wrap="square" lIns="0" tIns="0" rIns="0" bIns="0" rtlCol="0" anchor="ctr"/>
          <a:lstStyle/>
          <a:p>
            <a:pPr indent="0" marL="0">
              <a:buNone/>
            </a:pPr>
            <a:r>
              <a:rPr lang="en-US" sz="1100" dirty="0">
                <a:solidFill>
                  <a:srgbClr val="5F7379"/>
                </a:solidFill>
                <a:latin typeface="Calibri" pitchFamily="34" charset="0"/>
                <a:ea typeface="Calibri" pitchFamily="34" charset="-122"/>
                <a:cs typeface="Calibri" pitchFamily="34" charset="-120"/>
              </a:rPr>
              <a:t>yaratiladi</a:t>
            </a:r>
            <a:endParaRPr lang="en-US" sz="1100" dirty="0"/>
          </a:p>
        </p:txBody>
      </p:sp>
      <p:sp>
        <p:nvSpPr>
          <p:cNvPr id="7" name="Text 5"/>
          <p:cNvSpPr/>
          <p:nvPr/>
        </p:nvSpPr>
        <p:spPr>
          <a:xfrm>
            <a:off x="2382012" y="1700784"/>
            <a:ext cx="201168" cy="365760"/>
          </a:xfrm>
          <a:prstGeom prst="rect">
            <a:avLst/>
          </a:prstGeom>
          <a:noFill/>
          <a:ln/>
        </p:spPr>
        <p:txBody>
          <a:bodyPr wrap="square" lIns="0" tIns="0" rIns="0" bIns="0" rtlCol="0" anchor="ctr"/>
          <a:lstStyle/>
          <a:p>
            <a:pPr algn="ctr" indent="0" marL="0">
              <a:buNone/>
            </a:pPr>
            <a:r>
              <a:rPr lang="en-US" sz="2000" b="1" dirty="0">
                <a:solidFill>
                  <a:srgbClr val="028090"/>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2592324" y="1444752"/>
            <a:ext cx="1869948" cy="1024128"/>
          </a:xfrm>
          <a:prstGeom prst="roundRect">
            <a:avLst>
              <a:gd name="adj" fmla="val 7143"/>
            </a:avLst>
          </a:prstGeom>
          <a:solidFill>
            <a:srgbClr val="06333D"/>
          </a:solidFill>
          <a:ln w="12700">
            <a:solidFill>
              <a:srgbClr val="06333D"/>
            </a:solidFill>
            <a:prstDash val="solid"/>
          </a:ln>
        </p:spPr>
      </p:sp>
      <p:sp>
        <p:nvSpPr>
          <p:cNvPr id="9" name="Text 7"/>
          <p:cNvSpPr/>
          <p:nvPr/>
        </p:nvSpPr>
        <p:spPr>
          <a:xfrm>
            <a:off x="2738628" y="1572768"/>
            <a:ext cx="1577340"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O'z xulosang</a:t>
            </a:r>
            <a:endParaRPr lang="en-US" sz="1350" dirty="0"/>
          </a:p>
        </p:txBody>
      </p:sp>
      <p:sp>
        <p:nvSpPr>
          <p:cNvPr id="10" name="Text 8"/>
          <p:cNvSpPr/>
          <p:nvPr/>
        </p:nvSpPr>
        <p:spPr>
          <a:xfrm>
            <a:off x="2738628" y="1883664"/>
            <a:ext cx="1577340" cy="457200"/>
          </a:xfrm>
          <a:prstGeom prst="rect">
            <a:avLst/>
          </a:prstGeom>
          <a:noFill/>
          <a:ln/>
        </p:spPr>
        <p:txBody>
          <a:bodyPr wrap="square" lIns="0" tIns="0" rIns="0" bIns="0" rtlCol="0" anchor="ctr"/>
          <a:lstStyle/>
          <a:p>
            <a:pPr indent="0" marL="0">
              <a:buNone/>
            </a:pPr>
            <a:r>
              <a:rPr lang="en-US" sz="1100" dirty="0">
                <a:solidFill>
                  <a:srgbClr val="02C39A"/>
                </a:solidFill>
                <a:latin typeface="Calibri" pitchFamily="34" charset="0"/>
                <a:ea typeface="Calibri" pitchFamily="34" charset="-122"/>
                <a:cs typeface="Calibri" pitchFamily="34" charset="-120"/>
              </a:rPr>
              <a:t>AI'dan oldin</a:t>
            </a:r>
            <a:endParaRPr lang="en-US" sz="1100" dirty="0"/>
          </a:p>
        </p:txBody>
      </p:sp>
      <p:sp>
        <p:nvSpPr>
          <p:cNvPr id="11" name="Text 9"/>
          <p:cNvSpPr/>
          <p:nvPr/>
        </p:nvSpPr>
        <p:spPr>
          <a:xfrm>
            <a:off x="4471416" y="1700784"/>
            <a:ext cx="201168" cy="365760"/>
          </a:xfrm>
          <a:prstGeom prst="rect">
            <a:avLst/>
          </a:prstGeom>
          <a:noFill/>
          <a:ln/>
        </p:spPr>
        <p:txBody>
          <a:bodyPr wrap="square" lIns="0" tIns="0" rIns="0" bIns="0" rtlCol="0" anchor="ctr"/>
          <a:lstStyle/>
          <a:p>
            <a:pPr algn="ctr" indent="0" marL="0">
              <a:buNone/>
            </a:pPr>
            <a:r>
              <a:rPr lang="en-US" sz="2000" b="1" dirty="0">
                <a:solidFill>
                  <a:srgbClr val="028090"/>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4681728" y="1444752"/>
            <a:ext cx="1869948" cy="1024128"/>
          </a:xfrm>
          <a:prstGeom prst="roundRect">
            <a:avLst>
              <a:gd name="adj" fmla="val 7143"/>
            </a:avLst>
          </a:prstGeom>
          <a:solidFill>
            <a:srgbClr val="EAF4F5"/>
          </a:solidFill>
          <a:ln w="12700">
            <a:solidFill>
              <a:srgbClr val="EAF4F5"/>
            </a:solidFill>
            <a:prstDash val="solid"/>
          </a:ln>
        </p:spPr>
      </p:sp>
      <p:sp>
        <p:nvSpPr>
          <p:cNvPr id="13" name="Text 11"/>
          <p:cNvSpPr/>
          <p:nvPr/>
        </p:nvSpPr>
        <p:spPr>
          <a:xfrm>
            <a:off x="4828032" y="1572768"/>
            <a:ext cx="1577340" cy="310896"/>
          </a:xfrm>
          <a:prstGeom prst="rect">
            <a:avLst/>
          </a:prstGeom>
          <a:noFill/>
          <a:ln/>
        </p:spPr>
        <p:txBody>
          <a:bodyPr wrap="square" lIns="0" tIns="0" rIns="0" bIns="0" rtlCol="0" anchor="ctr"/>
          <a:lstStyle/>
          <a:p>
            <a:pPr indent="0" marL="0">
              <a:buNone/>
            </a:pPr>
            <a:r>
              <a:rPr lang="en-US" sz="1350" b="1" dirty="0">
                <a:solidFill>
                  <a:srgbClr val="12333B"/>
                </a:solidFill>
                <a:latin typeface="Calibri" pitchFamily="34" charset="0"/>
                <a:ea typeface="Calibri" pitchFamily="34" charset="-122"/>
                <a:cs typeface="Calibri" pitchFamily="34" charset="-120"/>
              </a:rPr>
              <a:t>AI tahlili</a:t>
            </a:r>
            <a:endParaRPr lang="en-US" sz="1350" dirty="0"/>
          </a:p>
        </p:txBody>
      </p:sp>
      <p:sp>
        <p:nvSpPr>
          <p:cNvPr id="14" name="Text 12"/>
          <p:cNvSpPr/>
          <p:nvPr/>
        </p:nvSpPr>
        <p:spPr>
          <a:xfrm>
            <a:off x="4828032" y="1883664"/>
            <a:ext cx="1577340" cy="457200"/>
          </a:xfrm>
          <a:prstGeom prst="rect">
            <a:avLst/>
          </a:prstGeom>
          <a:noFill/>
          <a:ln/>
        </p:spPr>
        <p:txBody>
          <a:bodyPr wrap="square" lIns="0" tIns="0" rIns="0" bIns="0" rtlCol="0" anchor="ctr"/>
          <a:lstStyle/>
          <a:p>
            <a:pPr indent="0" marL="0">
              <a:buNone/>
            </a:pPr>
            <a:r>
              <a:rPr lang="en-US" sz="1100" dirty="0">
                <a:solidFill>
                  <a:srgbClr val="5F7379"/>
                </a:solidFill>
                <a:latin typeface="Calibri" pitchFamily="34" charset="0"/>
                <a:ea typeface="Calibri" pitchFamily="34" charset="-122"/>
                <a:cs typeface="Calibri" pitchFamily="34" charset="-120"/>
              </a:rPr>
              <a:t>endi ishga tushadi</a:t>
            </a:r>
            <a:endParaRPr lang="en-US" sz="1100" dirty="0"/>
          </a:p>
        </p:txBody>
      </p:sp>
      <p:sp>
        <p:nvSpPr>
          <p:cNvPr id="15" name="Text 13"/>
          <p:cNvSpPr/>
          <p:nvPr/>
        </p:nvSpPr>
        <p:spPr>
          <a:xfrm>
            <a:off x="6560820" y="1700784"/>
            <a:ext cx="201168" cy="365760"/>
          </a:xfrm>
          <a:prstGeom prst="rect">
            <a:avLst/>
          </a:prstGeom>
          <a:noFill/>
          <a:ln/>
        </p:spPr>
        <p:txBody>
          <a:bodyPr wrap="square" lIns="0" tIns="0" rIns="0" bIns="0" rtlCol="0" anchor="ctr"/>
          <a:lstStyle/>
          <a:p>
            <a:pPr algn="ctr" indent="0" marL="0">
              <a:buNone/>
            </a:pPr>
            <a:r>
              <a:rPr lang="en-US" sz="2000" b="1" dirty="0">
                <a:solidFill>
                  <a:srgbClr val="028090"/>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771132" y="1444752"/>
            <a:ext cx="1869948" cy="1024128"/>
          </a:xfrm>
          <a:prstGeom prst="roundRect">
            <a:avLst>
              <a:gd name="adj" fmla="val 7143"/>
            </a:avLst>
          </a:prstGeom>
          <a:solidFill>
            <a:srgbClr val="EAF4F5"/>
          </a:solidFill>
          <a:ln w="12700">
            <a:solidFill>
              <a:srgbClr val="EAF4F5"/>
            </a:solidFill>
            <a:prstDash val="solid"/>
          </a:ln>
        </p:spPr>
      </p:sp>
      <p:sp>
        <p:nvSpPr>
          <p:cNvPr id="17" name="Text 15"/>
          <p:cNvSpPr/>
          <p:nvPr/>
        </p:nvSpPr>
        <p:spPr>
          <a:xfrm>
            <a:off x="6917436" y="1572768"/>
            <a:ext cx="1577340" cy="310896"/>
          </a:xfrm>
          <a:prstGeom prst="rect">
            <a:avLst/>
          </a:prstGeom>
          <a:noFill/>
          <a:ln/>
        </p:spPr>
        <p:txBody>
          <a:bodyPr wrap="square" lIns="0" tIns="0" rIns="0" bIns="0" rtlCol="0" anchor="ctr"/>
          <a:lstStyle/>
          <a:p>
            <a:pPr indent="0" marL="0">
              <a:buNone/>
            </a:pPr>
            <a:r>
              <a:rPr lang="en-US" sz="1350" b="1" dirty="0">
                <a:solidFill>
                  <a:srgbClr val="12333B"/>
                </a:solidFill>
                <a:latin typeface="Calibri" pitchFamily="34" charset="0"/>
                <a:ea typeface="Calibri" pitchFamily="34" charset="-122"/>
                <a:cs typeface="Calibri" pitchFamily="34" charset="-120"/>
              </a:rPr>
              <a:t>Yakuniy qaror</a:t>
            </a:r>
            <a:endParaRPr lang="en-US" sz="1350" dirty="0"/>
          </a:p>
        </p:txBody>
      </p:sp>
      <p:sp>
        <p:nvSpPr>
          <p:cNvPr id="18" name="Text 16"/>
          <p:cNvSpPr/>
          <p:nvPr/>
        </p:nvSpPr>
        <p:spPr>
          <a:xfrm>
            <a:off x="6917436" y="1883664"/>
            <a:ext cx="1577340" cy="457200"/>
          </a:xfrm>
          <a:prstGeom prst="rect">
            <a:avLst/>
          </a:prstGeom>
          <a:noFill/>
          <a:ln/>
        </p:spPr>
        <p:txBody>
          <a:bodyPr wrap="square" lIns="0" tIns="0" rIns="0" bIns="0" rtlCol="0" anchor="ctr"/>
          <a:lstStyle/>
          <a:p>
            <a:pPr indent="0" marL="0">
              <a:buNone/>
            </a:pPr>
            <a:r>
              <a:rPr lang="en-US" sz="1100" dirty="0">
                <a:solidFill>
                  <a:srgbClr val="5F7379"/>
                </a:solidFill>
                <a:latin typeface="Calibri" pitchFamily="34" charset="0"/>
                <a:ea typeface="Calibri" pitchFamily="34" charset="-122"/>
                <a:cs typeface="Calibri" pitchFamily="34" charset="-120"/>
              </a:rPr>
              <a:t>kim rozi, kim yo'q</a:t>
            </a:r>
            <a:endParaRPr lang="en-US" sz="1100" dirty="0"/>
          </a:p>
        </p:txBody>
      </p:sp>
      <p:sp>
        <p:nvSpPr>
          <p:cNvPr id="19" name="Shape 17"/>
          <p:cNvSpPr/>
          <p:nvPr/>
        </p:nvSpPr>
        <p:spPr>
          <a:xfrm>
            <a:off x="502920" y="2724912"/>
            <a:ext cx="8138160" cy="1188720"/>
          </a:xfrm>
          <a:prstGeom prst="roundRect">
            <a:avLst>
              <a:gd name="adj" fmla="val 6154"/>
            </a:avLst>
          </a:prstGeom>
          <a:solidFill>
            <a:srgbClr val="FCEDE8"/>
          </a:solidFill>
          <a:ln w="12700">
            <a:solidFill>
              <a:srgbClr val="FCEDE8"/>
            </a:solidFill>
            <a:prstDash val="solid"/>
          </a:ln>
        </p:spPr>
      </p:sp>
      <p:sp>
        <p:nvSpPr>
          <p:cNvPr id="20" name="Text 18"/>
          <p:cNvSpPr/>
          <p:nvPr/>
        </p:nvSpPr>
        <p:spPr>
          <a:xfrm>
            <a:off x="795528" y="2889504"/>
            <a:ext cx="1554480" cy="384048"/>
          </a:xfrm>
          <a:prstGeom prst="rect">
            <a:avLst/>
          </a:prstGeom>
          <a:noFill/>
          <a:ln/>
        </p:spPr>
        <p:txBody>
          <a:bodyPr wrap="square" lIns="0" tIns="0" rIns="0" bIns="0" rtlCol="0" anchor="ctr"/>
          <a:lstStyle/>
          <a:p>
            <a:pPr indent="0" marL="0">
              <a:buNone/>
            </a:pPr>
            <a:r>
              <a:rPr lang="en-US" sz="2400" b="1" dirty="0">
                <a:solidFill>
                  <a:srgbClr val="E4572E"/>
                </a:solidFill>
                <a:latin typeface="Cambria" pitchFamily="34" charset="0"/>
                <a:ea typeface="Cambria" pitchFamily="34" charset="-122"/>
                <a:cs typeface="Cambria" pitchFamily="34" charset="-120"/>
              </a:rPr>
              <a:t>HTTP 409</a:t>
            </a:r>
            <a:endParaRPr lang="en-US" sz="2400" dirty="0"/>
          </a:p>
        </p:txBody>
      </p:sp>
      <p:sp>
        <p:nvSpPr>
          <p:cNvPr id="21" name="Text 19"/>
          <p:cNvSpPr/>
          <p:nvPr/>
        </p:nvSpPr>
        <p:spPr>
          <a:xfrm>
            <a:off x="2478024" y="2871216"/>
            <a:ext cx="5852160" cy="859536"/>
          </a:xfrm>
          <a:prstGeom prst="rect">
            <a:avLst/>
          </a:prstGeom>
          <a:noFill/>
          <a:ln/>
        </p:spPr>
        <p:txBody>
          <a:bodyPr wrap="square" lIns="0" tIns="0" rIns="0" bIns="0" rtlCol="0" anchor="ctr"/>
          <a:lstStyle/>
          <a:p>
            <a:pPr indent="0" marL="0">
              <a:lnSpc>
                <a:spcPct val="125000"/>
              </a:lnSpc>
              <a:buNone/>
            </a:pPr>
            <a:r>
              <a:rPr lang="en-US" sz="1300" dirty="0">
                <a:solidFill>
                  <a:srgbClr val="12333B"/>
                </a:solidFill>
                <a:latin typeface="Calibri" pitchFamily="34" charset="0"/>
                <a:ea typeface="Calibri" pitchFamily="34" charset="-122"/>
                <a:cs typeface="Calibri" pitchFamily="34" charset="-120"/>
              </a:rPr>
              <a:t>2-qadam bajarilmasa, API model javobini bermaydi.</a:t>
            </a:r>
            <a:endParaRPr lang="en-US" sz="1300" dirty="0"/>
          </a:p>
          <a:p>
            <a:pPr indent="0" marL="0">
              <a:lnSpc>
                <a:spcPct val="125000"/>
              </a:lnSpc>
              <a:buNone/>
            </a:pPr>
            <a:r>
              <a:rPr lang="en-US" sz="1300" dirty="0">
                <a:solidFill>
                  <a:srgbClr val="12333B"/>
                </a:solidFill>
                <a:latin typeface="Calibri" pitchFamily="34" charset="0"/>
                <a:ea typeface="Calibri" pitchFamily="34" charset="-122"/>
                <a:cs typeface="Calibri" pitchFamily="34" charset="-120"/>
              </a:rPr>
              <a:t>Modelni birinchi ko'rish — tavsiya etilmagan emas, texnik jihatdan imkonsiz.</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84048"/>
            <a:ext cx="8138160" cy="548640"/>
          </a:xfrm>
          <a:prstGeom prst="rect">
            <a:avLst/>
          </a:prstGeom>
          <a:noFill/>
          <a:ln/>
        </p:spPr>
        <p:txBody>
          <a:bodyPr wrap="square" lIns="0" tIns="0" rIns="0" bIns="0" rtlCol="0" anchor="ctr"/>
          <a:lstStyle/>
          <a:p>
            <a:pPr indent="0" marL="0">
              <a:buNone/>
            </a:pPr>
            <a:r>
              <a:rPr lang="en-US" sz="3200" b="1" dirty="0">
                <a:solidFill>
                  <a:srgbClr val="12333B"/>
                </a:solidFill>
                <a:latin typeface="Cambria" pitchFamily="34" charset="0"/>
                <a:ea typeface="Cambria" pitchFamily="34" charset="-122"/>
                <a:cs typeface="Cambria" pitchFamily="34" charset="-120"/>
              </a:rPr>
              <a:t>Xavfsizlik standarti</a:t>
            </a:r>
            <a:endParaRPr lang="en-US" sz="3200" dirty="0"/>
          </a:p>
        </p:txBody>
      </p:sp>
      <p:sp>
        <p:nvSpPr>
          <p:cNvPr id="3" name="Text 1"/>
          <p:cNvSpPr/>
          <p:nvPr/>
        </p:nvSpPr>
        <p:spPr>
          <a:xfrm>
            <a:off x="502920" y="932688"/>
            <a:ext cx="8138160" cy="310896"/>
          </a:xfrm>
          <a:prstGeom prst="rect">
            <a:avLst/>
          </a:prstGeom>
          <a:noFill/>
          <a:ln/>
        </p:spPr>
        <p:txBody>
          <a:bodyPr wrap="square" lIns="0" tIns="0" rIns="0" bIns="0" rtlCol="0" anchor="ctr"/>
          <a:lstStyle/>
          <a:p>
            <a:pPr indent="0" marL="0">
              <a:buNone/>
            </a:pPr>
            <a:r>
              <a:rPr lang="en-US" sz="1300" dirty="0">
                <a:solidFill>
                  <a:srgbClr val="5F7379"/>
                </a:solidFill>
                <a:latin typeface="Calibri" pitchFamily="34" charset="0"/>
                <a:ea typeface="Calibri" pitchFamily="34" charset="-122"/>
                <a:cs typeface="Calibri" pitchFamily="34" charset="-120"/>
              </a:rPr>
              <a:t>Olti qoida — har biri kod bilan majburlanadi</a:t>
            </a:r>
            <a:endParaRPr lang="en-US" sz="1300" dirty="0"/>
          </a:p>
        </p:txBody>
      </p:sp>
      <p:sp>
        <p:nvSpPr>
          <p:cNvPr id="4" name="Shape 2"/>
          <p:cNvSpPr/>
          <p:nvPr/>
        </p:nvSpPr>
        <p:spPr>
          <a:xfrm>
            <a:off x="502920" y="1463040"/>
            <a:ext cx="3931920" cy="731520"/>
          </a:xfrm>
          <a:prstGeom prst="roundRect">
            <a:avLst>
              <a:gd name="adj" fmla="val 10000"/>
            </a:avLst>
          </a:prstGeom>
          <a:solidFill>
            <a:srgbClr val="EAF4F5"/>
          </a:solidFill>
          <a:ln w="12700">
            <a:solidFill>
              <a:srgbClr val="EAF4F5"/>
            </a:solidFill>
            <a:prstDash val="solid"/>
          </a:ln>
        </p:spPr>
      </p:sp>
      <p:sp>
        <p:nvSpPr>
          <p:cNvPr id="5" name="Text 3"/>
          <p:cNvSpPr/>
          <p:nvPr/>
        </p:nvSpPr>
        <p:spPr>
          <a:xfrm>
            <a:off x="667512" y="1545336"/>
            <a:ext cx="457200" cy="274320"/>
          </a:xfrm>
          <a:prstGeom prst="rect">
            <a:avLst/>
          </a:prstGeom>
          <a:noFill/>
          <a:ln/>
        </p:spPr>
        <p:txBody>
          <a:bodyPr wrap="square" lIns="0" tIns="0" rIns="0" bIns="0" rtlCol="0" anchor="ctr"/>
          <a:lstStyle/>
          <a:p>
            <a:pPr indent="0" marL="0">
              <a:buNone/>
            </a:pPr>
            <a:r>
              <a:rPr lang="en-US" sz="1350" b="1" dirty="0">
                <a:solidFill>
                  <a:srgbClr val="028090"/>
                </a:solidFill>
                <a:latin typeface="Calibri" pitchFamily="34" charset="0"/>
                <a:ea typeface="Calibri" pitchFamily="34" charset="-122"/>
                <a:cs typeface="Calibri" pitchFamily="34" charset="-120"/>
              </a:rPr>
              <a:t>S1</a:t>
            </a:r>
            <a:endParaRPr lang="en-US" sz="1350" dirty="0"/>
          </a:p>
        </p:txBody>
      </p:sp>
      <p:sp>
        <p:nvSpPr>
          <p:cNvPr id="6" name="Text 4"/>
          <p:cNvSpPr/>
          <p:nvPr/>
        </p:nvSpPr>
        <p:spPr>
          <a:xfrm>
            <a:off x="1161288" y="1545336"/>
            <a:ext cx="3108960" cy="274320"/>
          </a:xfrm>
          <a:prstGeom prst="rect">
            <a:avLst/>
          </a:prstGeom>
          <a:noFill/>
          <a:ln/>
        </p:spPr>
        <p:txBody>
          <a:bodyPr wrap="square" lIns="0" tIns="0" rIns="0" bIns="0" rtlCol="0" anchor="ctr"/>
          <a:lstStyle/>
          <a:p>
            <a:pPr indent="0" marL="0">
              <a:buNone/>
            </a:pPr>
            <a:r>
              <a:rPr lang="en-US" sz="1250" b="1" dirty="0">
                <a:solidFill>
                  <a:srgbClr val="12333B"/>
                </a:solidFill>
                <a:latin typeface="Calibri" pitchFamily="34" charset="0"/>
                <a:ea typeface="Calibri" pitchFamily="34" charset="-122"/>
                <a:cs typeface="Calibri" pitchFamily="34" charset="-120"/>
              </a:rPr>
              <a:t>Faqat ta'lim uchun</a:t>
            </a:r>
            <a:endParaRPr lang="en-US" sz="1250" dirty="0"/>
          </a:p>
        </p:txBody>
      </p:sp>
      <p:sp>
        <p:nvSpPr>
          <p:cNvPr id="7" name="Text 5"/>
          <p:cNvSpPr/>
          <p:nvPr/>
        </p:nvSpPr>
        <p:spPr>
          <a:xfrm>
            <a:off x="1161288" y="1847088"/>
            <a:ext cx="3108960" cy="256032"/>
          </a:xfrm>
          <a:prstGeom prst="rect">
            <a:avLst/>
          </a:prstGeom>
          <a:noFill/>
          <a:ln/>
        </p:spPr>
        <p:txBody>
          <a:bodyPr wrap="square" lIns="0" tIns="0" rIns="0" bIns="0" rtlCol="0" anchor="ctr"/>
          <a:lstStyle/>
          <a:p>
            <a:pPr indent="0" marL="0">
              <a:buNone/>
            </a:pPr>
            <a:r>
              <a:rPr lang="en-US" sz="1000" dirty="0">
                <a:solidFill>
                  <a:srgbClr val="5F7379"/>
                </a:solidFill>
                <a:latin typeface="Courier New" pitchFamily="34" charset="0"/>
                <a:ea typeface="Courier New" pitchFamily="34" charset="-122"/>
                <a:cs typeface="Courier New" pitchFamily="34" charset="-120"/>
              </a:rPr>
              <a:t>safety.screen_message</a:t>
            </a:r>
            <a:endParaRPr lang="en-US" sz="1000" dirty="0"/>
          </a:p>
        </p:txBody>
      </p:sp>
      <p:sp>
        <p:nvSpPr>
          <p:cNvPr id="8" name="Shape 6"/>
          <p:cNvSpPr/>
          <p:nvPr/>
        </p:nvSpPr>
        <p:spPr>
          <a:xfrm>
            <a:off x="4709160" y="1463040"/>
            <a:ext cx="3931920" cy="731520"/>
          </a:xfrm>
          <a:prstGeom prst="roundRect">
            <a:avLst>
              <a:gd name="adj" fmla="val 10000"/>
            </a:avLst>
          </a:prstGeom>
          <a:solidFill>
            <a:srgbClr val="EAF4F5"/>
          </a:solidFill>
          <a:ln w="12700">
            <a:solidFill>
              <a:srgbClr val="EAF4F5"/>
            </a:solidFill>
            <a:prstDash val="solid"/>
          </a:ln>
        </p:spPr>
      </p:sp>
      <p:sp>
        <p:nvSpPr>
          <p:cNvPr id="9" name="Text 7"/>
          <p:cNvSpPr/>
          <p:nvPr/>
        </p:nvSpPr>
        <p:spPr>
          <a:xfrm>
            <a:off x="4873752" y="1545336"/>
            <a:ext cx="457200" cy="274320"/>
          </a:xfrm>
          <a:prstGeom prst="rect">
            <a:avLst/>
          </a:prstGeom>
          <a:noFill/>
          <a:ln/>
        </p:spPr>
        <p:txBody>
          <a:bodyPr wrap="square" lIns="0" tIns="0" rIns="0" bIns="0" rtlCol="0" anchor="ctr"/>
          <a:lstStyle/>
          <a:p>
            <a:pPr indent="0" marL="0">
              <a:buNone/>
            </a:pPr>
            <a:r>
              <a:rPr lang="en-US" sz="1350" b="1" dirty="0">
                <a:solidFill>
                  <a:srgbClr val="028090"/>
                </a:solidFill>
                <a:latin typeface="Calibri" pitchFamily="34" charset="0"/>
                <a:ea typeface="Calibri" pitchFamily="34" charset="-122"/>
                <a:cs typeface="Calibri" pitchFamily="34" charset="-120"/>
              </a:rPr>
              <a:t>S2</a:t>
            </a:r>
            <a:endParaRPr lang="en-US" sz="1350" dirty="0"/>
          </a:p>
        </p:txBody>
      </p:sp>
      <p:sp>
        <p:nvSpPr>
          <p:cNvPr id="10" name="Text 8"/>
          <p:cNvSpPr/>
          <p:nvPr/>
        </p:nvSpPr>
        <p:spPr>
          <a:xfrm>
            <a:off x="5367528" y="1545336"/>
            <a:ext cx="3108960" cy="274320"/>
          </a:xfrm>
          <a:prstGeom prst="rect">
            <a:avLst/>
          </a:prstGeom>
          <a:noFill/>
          <a:ln/>
        </p:spPr>
        <p:txBody>
          <a:bodyPr wrap="square" lIns="0" tIns="0" rIns="0" bIns="0" rtlCol="0" anchor="ctr"/>
          <a:lstStyle/>
          <a:p>
            <a:pPr indent="0" marL="0">
              <a:buNone/>
            </a:pPr>
            <a:r>
              <a:rPr lang="en-US" sz="1250" b="1" dirty="0">
                <a:solidFill>
                  <a:srgbClr val="12333B"/>
                </a:solidFill>
                <a:latin typeface="Calibri" pitchFamily="34" charset="0"/>
                <a:ea typeface="Calibri" pitchFamily="34" charset="-122"/>
                <a:cs typeface="Calibri" pitchFamily="34" charset="-120"/>
              </a:rPr>
              <a:t>Bemor ma'lumoti modelga bormaydi</a:t>
            </a:r>
            <a:endParaRPr lang="en-US" sz="1250" dirty="0"/>
          </a:p>
        </p:txBody>
      </p:sp>
      <p:sp>
        <p:nvSpPr>
          <p:cNvPr id="11" name="Text 9"/>
          <p:cNvSpPr/>
          <p:nvPr/>
        </p:nvSpPr>
        <p:spPr>
          <a:xfrm>
            <a:off x="5367528" y="1847088"/>
            <a:ext cx="3108960" cy="256032"/>
          </a:xfrm>
          <a:prstGeom prst="rect">
            <a:avLst/>
          </a:prstGeom>
          <a:noFill/>
          <a:ln/>
        </p:spPr>
        <p:txBody>
          <a:bodyPr wrap="square" lIns="0" tIns="0" rIns="0" bIns="0" rtlCol="0" anchor="ctr"/>
          <a:lstStyle/>
          <a:p>
            <a:pPr indent="0" marL="0">
              <a:buNone/>
            </a:pPr>
            <a:r>
              <a:rPr lang="en-US" sz="1000" dirty="0">
                <a:solidFill>
                  <a:srgbClr val="5F7379"/>
                </a:solidFill>
                <a:latin typeface="Courier New" pitchFamily="34" charset="0"/>
                <a:ea typeface="Courier New" pitchFamily="34" charset="-122"/>
                <a:cs typeface="Courier New" pitchFamily="34" charset="-120"/>
              </a:rPr>
              <a:t>safety.redact</a:t>
            </a:r>
            <a:endParaRPr lang="en-US" sz="1000" dirty="0"/>
          </a:p>
        </p:txBody>
      </p:sp>
      <p:sp>
        <p:nvSpPr>
          <p:cNvPr id="12" name="Shape 10"/>
          <p:cNvSpPr/>
          <p:nvPr/>
        </p:nvSpPr>
        <p:spPr>
          <a:xfrm>
            <a:off x="502920" y="2322576"/>
            <a:ext cx="3931920" cy="731520"/>
          </a:xfrm>
          <a:prstGeom prst="roundRect">
            <a:avLst>
              <a:gd name="adj" fmla="val 10000"/>
            </a:avLst>
          </a:prstGeom>
          <a:solidFill>
            <a:srgbClr val="EAF4F5"/>
          </a:solidFill>
          <a:ln w="12700">
            <a:solidFill>
              <a:srgbClr val="EAF4F5"/>
            </a:solidFill>
            <a:prstDash val="solid"/>
          </a:ln>
        </p:spPr>
      </p:sp>
      <p:sp>
        <p:nvSpPr>
          <p:cNvPr id="13" name="Text 11"/>
          <p:cNvSpPr/>
          <p:nvPr/>
        </p:nvSpPr>
        <p:spPr>
          <a:xfrm>
            <a:off x="667512" y="2404872"/>
            <a:ext cx="457200" cy="274320"/>
          </a:xfrm>
          <a:prstGeom prst="rect">
            <a:avLst/>
          </a:prstGeom>
          <a:noFill/>
          <a:ln/>
        </p:spPr>
        <p:txBody>
          <a:bodyPr wrap="square" lIns="0" tIns="0" rIns="0" bIns="0" rtlCol="0" anchor="ctr"/>
          <a:lstStyle/>
          <a:p>
            <a:pPr indent="0" marL="0">
              <a:buNone/>
            </a:pPr>
            <a:r>
              <a:rPr lang="en-US" sz="1350" b="1" dirty="0">
                <a:solidFill>
                  <a:srgbClr val="028090"/>
                </a:solidFill>
                <a:latin typeface="Calibri" pitchFamily="34" charset="0"/>
                <a:ea typeface="Calibri" pitchFamily="34" charset="-122"/>
                <a:cs typeface="Calibri" pitchFamily="34" charset="-120"/>
              </a:rPr>
              <a:t>S3</a:t>
            </a:r>
            <a:endParaRPr lang="en-US" sz="1350" dirty="0"/>
          </a:p>
        </p:txBody>
      </p:sp>
      <p:sp>
        <p:nvSpPr>
          <p:cNvPr id="14" name="Text 12"/>
          <p:cNvSpPr/>
          <p:nvPr/>
        </p:nvSpPr>
        <p:spPr>
          <a:xfrm>
            <a:off x="1161288" y="2404872"/>
            <a:ext cx="3108960" cy="274320"/>
          </a:xfrm>
          <a:prstGeom prst="rect">
            <a:avLst/>
          </a:prstGeom>
          <a:noFill/>
          <a:ln/>
        </p:spPr>
        <p:txBody>
          <a:bodyPr wrap="square" lIns="0" tIns="0" rIns="0" bIns="0" rtlCol="0" anchor="ctr"/>
          <a:lstStyle/>
          <a:p>
            <a:pPr indent="0" marL="0">
              <a:buNone/>
            </a:pPr>
            <a:r>
              <a:rPr lang="en-US" sz="1250" b="1" dirty="0">
                <a:solidFill>
                  <a:srgbClr val="12333B"/>
                </a:solidFill>
                <a:latin typeface="Calibri" pitchFamily="34" charset="0"/>
                <a:ea typeface="Calibri" pitchFamily="34" charset="-122"/>
                <a:cs typeface="Calibri" pitchFamily="34" charset="-120"/>
              </a:rPr>
              <a:t>Har bir AI javobi belgilanadi</a:t>
            </a:r>
            <a:endParaRPr lang="en-US" sz="1250" dirty="0"/>
          </a:p>
        </p:txBody>
      </p:sp>
      <p:sp>
        <p:nvSpPr>
          <p:cNvPr id="15" name="Text 13"/>
          <p:cNvSpPr/>
          <p:nvPr/>
        </p:nvSpPr>
        <p:spPr>
          <a:xfrm>
            <a:off x="1161288" y="2706624"/>
            <a:ext cx="3108960" cy="256032"/>
          </a:xfrm>
          <a:prstGeom prst="rect">
            <a:avLst/>
          </a:prstGeom>
          <a:noFill/>
          <a:ln/>
        </p:spPr>
        <p:txBody>
          <a:bodyPr wrap="square" lIns="0" tIns="0" rIns="0" bIns="0" rtlCol="0" anchor="ctr"/>
          <a:lstStyle/>
          <a:p>
            <a:pPr indent="0" marL="0">
              <a:buNone/>
            </a:pPr>
            <a:r>
              <a:rPr lang="en-US" sz="1000" dirty="0">
                <a:solidFill>
                  <a:srgbClr val="5F7379"/>
                </a:solidFill>
                <a:latin typeface="Courier New" pitchFamily="34" charset="0"/>
                <a:ea typeface="Courier New" pitchFamily="34" charset="-122"/>
                <a:cs typeface="Courier New" pitchFamily="34" charset="-120"/>
              </a:rPr>
              <a:t>safety.apply_disclaimer</a:t>
            </a:r>
            <a:endParaRPr lang="en-US" sz="1000" dirty="0"/>
          </a:p>
        </p:txBody>
      </p:sp>
      <p:sp>
        <p:nvSpPr>
          <p:cNvPr id="16" name="Shape 14"/>
          <p:cNvSpPr/>
          <p:nvPr/>
        </p:nvSpPr>
        <p:spPr>
          <a:xfrm>
            <a:off x="4709160" y="2322576"/>
            <a:ext cx="3931920" cy="731520"/>
          </a:xfrm>
          <a:prstGeom prst="roundRect">
            <a:avLst>
              <a:gd name="adj" fmla="val 10000"/>
            </a:avLst>
          </a:prstGeom>
          <a:solidFill>
            <a:srgbClr val="EAF4F5"/>
          </a:solidFill>
          <a:ln w="12700">
            <a:solidFill>
              <a:srgbClr val="EAF4F5"/>
            </a:solidFill>
            <a:prstDash val="solid"/>
          </a:ln>
        </p:spPr>
      </p:sp>
      <p:sp>
        <p:nvSpPr>
          <p:cNvPr id="17" name="Text 15"/>
          <p:cNvSpPr/>
          <p:nvPr/>
        </p:nvSpPr>
        <p:spPr>
          <a:xfrm>
            <a:off x="4873752" y="2404872"/>
            <a:ext cx="457200" cy="274320"/>
          </a:xfrm>
          <a:prstGeom prst="rect">
            <a:avLst/>
          </a:prstGeom>
          <a:noFill/>
          <a:ln/>
        </p:spPr>
        <p:txBody>
          <a:bodyPr wrap="square" lIns="0" tIns="0" rIns="0" bIns="0" rtlCol="0" anchor="ctr"/>
          <a:lstStyle/>
          <a:p>
            <a:pPr indent="0" marL="0">
              <a:buNone/>
            </a:pPr>
            <a:r>
              <a:rPr lang="en-US" sz="1350" b="1" dirty="0">
                <a:solidFill>
                  <a:srgbClr val="028090"/>
                </a:solidFill>
                <a:latin typeface="Calibri" pitchFamily="34" charset="0"/>
                <a:ea typeface="Calibri" pitchFamily="34" charset="-122"/>
                <a:cs typeface="Calibri" pitchFamily="34" charset="-120"/>
              </a:rPr>
              <a:t>S4</a:t>
            </a:r>
            <a:endParaRPr lang="en-US" sz="1350" dirty="0"/>
          </a:p>
        </p:txBody>
      </p:sp>
      <p:sp>
        <p:nvSpPr>
          <p:cNvPr id="18" name="Text 16"/>
          <p:cNvSpPr/>
          <p:nvPr/>
        </p:nvSpPr>
        <p:spPr>
          <a:xfrm>
            <a:off x="5367528" y="2404872"/>
            <a:ext cx="3108960" cy="274320"/>
          </a:xfrm>
          <a:prstGeom prst="rect">
            <a:avLst/>
          </a:prstGeom>
          <a:noFill/>
          <a:ln/>
        </p:spPr>
        <p:txBody>
          <a:bodyPr wrap="square" lIns="0" tIns="0" rIns="0" bIns="0" rtlCol="0" anchor="ctr"/>
          <a:lstStyle/>
          <a:p>
            <a:pPr indent="0" marL="0">
              <a:buNone/>
            </a:pPr>
            <a:r>
              <a:rPr lang="en-US" sz="1250" b="1" dirty="0">
                <a:solidFill>
                  <a:srgbClr val="12333B"/>
                </a:solidFill>
                <a:latin typeface="Calibri" pitchFamily="34" charset="0"/>
                <a:ea typeface="Calibri" pitchFamily="34" charset="-122"/>
                <a:cs typeface="Calibri" pitchFamily="34" charset="-120"/>
              </a:rPr>
              <a:t>Ishonch darajasi ko'rsatiladi</a:t>
            </a:r>
            <a:endParaRPr lang="en-US" sz="1250" dirty="0"/>
          </a:p>
        </p:txBody>
      </p:sp>
      <p:sp>
        <p:nvSpPr>
          <p:cNvPr id="19" name="Text 17"/>
          <p:cNvSpPr/>
          <p:nvPr/>
        </p:nvSpPr>
        <p:spPr>
          <a:xfrm>
            <a:off x="5367528" y="2706624"/>
            <a:ext cx="3108960" cy="256032"/>
          </a:xfrm>
          <a:prstGeom prst="rect">
            <a:avLst/>
          </a:prstGeom>
          <a:noFill/>
          <a:ln/>
        </p:spPr>
        <p:txBody>
          <a:bodyPr wrap="square" lIns="0" tIns="0" rIns="0" bIns="0" rtlCol="0" anchor="ctr"/>
          <a:lstStyle/>
          <a:p>
            <a:pPr indent="0" marL="0">
              <a:buNone/>
            </a:pPr>
            <a:r>
              <a:rPr lang="en-US" sz="1000" dirty="0">
                <a:solidFill>
                  <a:srgbClr val="5F7379"/>
                </a:solidFill>
                <a:latin typeface="Courier New" pitchFamily="34" charset="0"/>
                <a:ea typeface="Courier New" pitchFamily="34" charset="-122"/>
                <a:cs typeface="Courier New" pitchFamily="34" charset="-120"/>
              </a:rPr>
              <a:t>safety.evaluate_confidence</a:t>
            </a:r>
            <a:endParaRPr lang="en-US" sz="1000" dirty="0"/>
          </a:p>
        </p:txBody>
      </p:sp>
      <p:sp>
        <p:nvSpPr>
          <p:cNvPr id="20" name="Shape 18"/>
          <p:cNvSpPr/>
          <p:nvPr/>
        </p:nvSpPr>
        <p:spPr>
          <a:xfrm>
            <a:off x="502920" y="3182112"/>
            <a:ext cx="3931920" cy="731520"/>
          </a:xfrm>
          <a:prstGeom prst="roundRect">
            <a:avLst>
              <a:gd name="adj" fmla="val 10000"/>
            </a:avLst>
          </a:prstGeom>
          <a:solidFill>
            <a:srgbClr val="EAF4F5"/>
          </a:solidFill>
          <a:ln w="12700">
            <a:solidFill>
              <a:srgbClr val="EAF4F5"/>
            </a:solidFill>
            <a:prstDash val="solid"/>
          </a:ln>
        </p:spPr>
      </p:sp>
      <p:sp>
        <p:nvSpPr>
          <p:cNvPr id="21" name="Text 19"/>
          <p:cNvSpPr/>
          <p:nvPr/>
        </p:nvSpPr>
        <p:spPr>
          <a:xfrm>
            <a:off x="667512" y="3264408"/>
            <a:ext cx="457200" cy="274320"/>
          </a:xfrm>
          <a:prstGeom prst="rect">
            <a:avLst/>
          </a:prstGeom>
          <a:noFill/>
          <a:ln/>
        </p:spPr>
        <p:txBody>
          <a:bodyPr wrap="square" lIns="0" tIns="0" rIns="0" bIns="0" rtlCol="0" anchor="ctr"/>
          <a:lstStyle/>
          <a:p>
            <a:pPr indent="0" marL="0">
              <a:buNone/>
            </a:pPr>
            <a:r>
              <a:rPr lang="en-US" sz="1350" b="1" dirty="0">
                <a:solidFill>
                  <a:srgbClr val="028090"/>
                </a:solidFill>
                <a:latin typeface="Calibri" pitchFamily="34" charset="0"/>
                <a:ea typeface="Calibri" pitchFamily="34" charset="-122"/>
                <a:cs typeface="Calibri" pitchFamily="34" charset="-120"/>
              </a:rPr>
              <a:t>S5</a:t>
            </a:r>
            <a:endParaRPr lang="en-US" sz="1350" dirty="0"/>
          </a:p>
        </p:txBody>
      </p:sp>
      <p:sp>
        <p:nvSpPr>
          <p:cNvPr id="22" name="Text 20"/>
          <p:cNvSpPr/>
          <p:nvPr/>
        </p:nvSpPr>
        <p:spPr>
          <a:xfrm>
            <a:off x="1161288" y="3264408"/>
            <a:ext cx="3108960" cy="274320"/>
          </a:xfrm>
          <a:prstGeom prst="rect">
            <a:avLst/>
          </a:prstGeom>
          <a:noFill/>
          <a:ln/>
        </p:spPr>
        <p:txBody>
          <a:bodyPr wrap="square" lIns="0" tIns="0" rIns="0" bIns="0" rtlCol="0" anchor="ctr"/>
          <a:lstStyle/>
          <a:p>
            <a:pPr indent="0" marL="0">
              <a:buNone/>
            </a:pPr>
            <a:r>
              <a:rPr lang="en-US" sz="1250" b="1" dirty="0">
                <a:solidFill>
                  <a:srgbClr val="12333B"/>
                </a:solidFill>
                <a:latin typeface="Calibri" pitchFamily="34" charset="0"/>
                <a:ea typeface="Calibri" pitchFamily="34" charset="-122"/>
                <a:cs typeface="Calibri" pitchFamily="34" charset="-120"/>
              </a:rPr>
              <a:t>Qarorni nomi bor inson qabul qiladi</a:t>
            </a:r>
            <a:endParaRPr lang="en-US" sz="1250" dirty="0"/>
          </a:p>
        </p:txBody>
      </p:sp>
      <p:sp>
        <p:nvSpPr>
          <p:cNvPr id="23" name="Text 21"/>
          <p:cNvSpPr/>
          <p:nvPr/>
        </p:nvSpPr>
        <p:spPr>
          <a:xfrm>
            <a:off x="1161288" y="3566160"/>
            <a:ext cx="3108960" cy="256032"/>
          </a:xfrm>
          <a:prstGeom prst="rect">
            <a:avLst/>
          </a:prstGeom>
          <a:noFill/>
          <a:ln/>
        </p:spPr>
        <p:txBody>
          <a:bodyPr wrap="square" lIns="0" tIns="0" rIns="0" bIns="0" rtlCol="0" anchor="ctr"/>
          <a:lstStyle/>
          <a:p>
            <a:pPr indent="0" marL="0">
              <a:buNone/>
            </a:pPr>
            <a:r>
              <a:rPr lang="en-US" sz="1000" dirty="0">
                <a:solidFill>
                  <a:srgbClr val="5F7379"/>
                </a:solidFill>
                <a:latin typeface="Courier New" pitchFamily="34" charset="0"/>
                <a:ea typeface="Courier New" pitchFamily="34" charset="-122"/>
                <a:cs typeface="Courier New" pitchFamily="34" charset="-120"/>
              </a:rPr>
              <a:t>audit_events</a:t>
            </a:r>
            <a:endParaRPr lang="en-US" sz="1000" dirty="0"/>
          </a:p>
        </p:txBody>
      </p:sp>
      <p:sp>
        <p:nvSpPr>
          <p:cNvPr id="24" name="Shape 22"/>
          <p:cNvSpPr/>
          <p:nvPr/>
        </p:nvSpPr>
        <p:spPr>
          <a:xfrm>
            <a:off x="4709160" y="3182112"/>
            <a:ext cx="3931920" cy="731520"/>
          </a:xfrm>
          <a:prstGeom prst="roundRect">
            <a:avLst>
              <a:gd name="adj" fmla="val 10000"/>
            </a:avLst>
          </a:prstGeom>
          <a:solidFill>
            <a:srgbClr val="EAF4F5"/>
          </a:solidFill>
          <a:ln w="12700">
            <a:solidFill>
              <a:srgbClr val="EAF4F5"/>
            </a:solidFill>
            <a:prstDash val="solid"/>
          </a:ln>
        </p:spPr>
      </p:sp>
      <p:sp>
        <p:nvSpPr>
          <p:cNvPr id="25" name="Text 23"/>
          <p:cNvSpPr/>
          <p:nvPr/>
        </p:nvSpPr>
        <p:spPr>
          <a:xfrm>
            <a:off x="4873752" y="3264408"/>
            <a:ext cx="457200" cy="274320"/>
          </a:xfrm>
          <a:prstGeom prst="rect">
            <a:avLst/>
          </a:prstGeom>
          <a:noFill/>
          <a:ln/>
        </p:spPr>
        <p:txBody>
          <a:bodyPr wrap="square" lIns="0" tIns="0" rIns="0" bIns="0" rtlCol="0" anchor="ctr"/>
          <a:lstStyle/>
          <a:p>
            <a:pPr indent="0" marL="0">
              <a:buNone/>
            </a:pPr>
            <a:r>
              <a:rPr lang="en-US" sz="1350" b="1" dirty="0">
                <a:solidFill>
                  <a:srgbClr val="028090"/>
                </a:solidFill>
                <a:latin typeface="Calibri" pitchFamily="34" charset="0"/>
                <a:ea typeface="Calibri" pitchFamily="34" charset="-122"/>
                <a:cs typeface="Calibri" pitchFamily="34" charset="-120"/>
              </a:rPr>
              <a:t>S6</a:t>
            </a:r>
            <a:endParaRPr lang="en-US" sz="1350" dirty="0"/>
          </a:p>
        </p:txBody>
      </p:sp>
      <p:sp>
        <p:nvSpPr>
          <p:cNvPr id="26" name="Text 24"/>
          <p:cNvSpPr/>
          <p:nvPr/>
        </p:nvSpPr>
        <p:spPr>
          <a:xfrm>
            <a:off x="5367528" y="3264408"/>
            <a:ext cx="3108960" cy="274320"/>
          </a:xfrm>
          <a:prstGeom prst="rect">
            <a:avLst/>
          </a:prstGeom>
          <a:noFill/>
          <a:ln/>
        </p:spPr>
        <p:txBody>
          <a:bodyPr wrap="square" lIns="0" tIns="0" rIns="0" bIns="0" rtlCol="0" anchor="ctr"/>
          <a:lstStyle/>
          <a:p>
            <a:pPr indent="0" marL="0">
              <a:buNone/>
            </a:pPr>
            <a:r>
              <a:rPr lang="en-US" sz="1250" b="1" dirty="0">
                <a:solidFill>
                  <a:srgbClr val="12333B"/>
                </a:solidFill>
                <a:latin typeface="Calibri" pitchFamily="34" charset="0"/>
                <a:ea typeface="Calibri" pitchFamily="34" charset="-122"/>
                <a:cs typeface="Calibri" pitchFamily="34" charset="-120"/>
              </a:rPr>
              <a:t>Avval talaba, keyin model</a:t>
            </a:r>
            <a:endParaRPr lang="en-US" sz="1250" dirty="0"/>
          </a:p>
        </p:txBody>
      </p:sp>
      <p:sp>
        <p:nvSpPr>
          <p:cNvPr id="27" name="Text 25"/>
          <p:cNvSpPr/>
          <p:nvPr/>
        </p:nvSpPr>
        <p:spPr>
          <a:xfrm>
            <a:off x="5367528" y="3566160"/>
            <a:ext cx="3108960" cy="256032"/>
          </a:xfrm>
          <a:prstGeom prst="rect">
            <a:avLst/>
          </a:prstGeom>
          <a:noFill/>
          <a:ln/>
        </p:spPr>
        <p:txBody>
          <a:bodyPr wrap="square" lIns="0" tIns="0" rIns="0" bIns="0" rtlCol="0" anchor="ctr"/>
          <a:lstStyle/>
          <a:p>
            <a:pPr indent="0" marL="0">
              <a:buNone/>
            </a:pPr>
            <a:r>
              <a:rPr lang="en-US" sz="1000" dirty="0">
                <a:solidFill>
                  <a:srgbClr val="5F7379"/>
                </a:solidFill>
                <a:latin typeface="Courier New" pitchFamily="34" charset="0"/>
                <a:ea typeface="Courier New" pitchFamily="34" charset="-122"/>
                <a:cs typeface="Courier New" pitchFamily="34" charset="-120"/>
              </a:rPr>
              <a:t>analysis.analyze → 409</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84048"/>
            <a:ext cx="8138160" cy="548640"/>
          </a:xfrm>
          <a:prstGeom prst="rect">
            <a:avLst/>
          </a:prstGeom>
          <a:noFill/>
          <a:ln/>
        </p:spPr>
        <p:txBody>
          <a:bodyPr wrap="square" lIns="0" tIns="0" rIns="0" bIns="0" rtlCol="0" anchor="ctr"/>
          <a:lstStyle/>
          <a:p>
            <a:pPr indent="0" marL="0">
              <a:buNone/>
            </a:pPr>
            <a:r>
              <a:rPr lang="en-US" sz="3200" b="1" dirty="0">
                <a:solidFill>
                  <a:srgbClr val="12333B"/>
                </a:solidFill>
                <a:latin typeface="Cambria" pitchFamily="34" charset="0"/>
                <a:ea typeface="Cambria" pitchFamily="34" charset="-122"/>
                <a:cs typeface="Cambria" pitchFamily="34" charset="-120"/>
              </a:rPr>
              <a:t>Arxitektura</a:t>
            </a:r>
            <a:endParaRPr lang="en-US" sz="3200" dirty="0"/>
          </a:p>
        </p:txBody>
      </p:sp>
      <p:sp>
        <p:nvSpPr>
          <p:cNvPr id="3" name="Text 1"/>
          <p:cNvSpPr/>
          <p:nvPr/>
        </p:nvSpPr>
        <p:spPr>
          <a:xfrm>
            <a:off x="502920" y="932688"/>
            <a:ext cx="8138160" cy="310896"/>
          </a:xfrm>
          <a:prstGeom prst="rect">
            <a:avLst/>
          </a:prstGeom>
          <a:noFill/>
          <a:ln/>
        </p:spPr>
        <p:txBody>
          <a:bodyPr wrap="square" lIns="0" tIns="0" rIns="0" bIns="0" rtlCol="0" anchor="ctr"/>
          <a:lstStyle/>
          <a:p>
            <a:pPr indent="0" marL="0">
              <a:buNone/>
            </a:pPr>
            <a:r>
              <a:rPr lang="en-US" sz="1300" dirty="0">
                <a:solidFill>
                  <a:srgbClr val="5F7379"/>
                </a:solidFill>
                <a:latin typeface="Calibri" pitchFamily="34" charset="0"/>
                <a:ea typeface="Calibri" pitchFamily="34" charset="-122"/>
                <a:cs typeface="Calibri" pitchFamily="34" charset="-120"/>
              </a:rPr>
              <a:t>Uch qatlam, bitta qoida: sir server'da qoladi</a:t>
            </a:r>
            <a:endParaRPr lang="en-US" sz="1300" dirty="0"/>
          </a:p>
        </p:txBody>
      </p:sp>
      <p:sp>
        <p:nvSpPr>
          <p:cNvPr id="4" name="Shape 2"/>
          <p:cNvSpPr/>
          <p:nvPr/>
        </p:nvSpPr>
        <p:spPr>
          <a:xfrm>
            <a:off x="502920" y="1389888"/>
            <a:ext cx="5486400" cy="658368"/>
          </a:xfrm>
          <a:prstGeom prst="roundRect">
            <a:avLst>
              <a:gd name="adj" fmla="val 11111"/>
            </a:avLst>
          </a:prstGeom>
          <a:solidFill>
            <a:srgbClr val="EAF4F5"/>
          </a:solidFill>
          <a:ln w="12700">
            <a:solidFill>
              <a:srgbClr val="EAF4F5"/>
            </a:solidFill>
            <a:prstDash val="solid"/>
          </a:ln>
        </p:spPr>
      </p:sp>
      <p:sp>
        <p:nvSpPr>
          <p:cNvPr id="5" name="Shape 3"/>
          <p:cNvSpPr/>
          <p:nvPr/>
        </p:nvSpPr>
        <p:spPr>
          <a:xfrm>
            <a:off x="685800" y="1591056"/>
            <a:ext cx="256032" cy="256032"/>
          </a:xfrm>
          <a:prstGeom prst="ellipse">
            <a:avLst/>
          </a:prstGeom>
          <a:solidFill>
            <a:srgbClr val="028090"/>
          </a:solidFill>
          <a:ln w="12700">
            <a:solidFill>
              <a:srgbClr val="028090"/>
            </a:solidFill>
            <a:prstDash val="solid"/>
          </a:ln>
        </p:spPr>
      </p:sp>
      <p:sp>
        <p:nvSpPr>
          <p:cNvPr id="6" name="Text 4"/>
          <p:cNvSpPr/>
          <p:nvPr/>
        </p:nvSpPr>
        <p:spPr>
          <a:xfrm>
            <a:off x="1069848" y="1444752"/>
            <a:ext cx="1554480" cy="274320"/>
          </a:xfrm>
          <a:prstGeom prst="rect">
            <a:avLst/>
          </a:prstGeom>
          <a:noFill/>
          <a:ln/>
        </p:spPr>
        <p:txBody>
          <a:bodyPr wrap="square" lIns="0" tIns="0" rIns="0" bIns="0" rtlCol="0" anchor="ctr"/>
          <a:lstStyle/>
          <a:p>
            <a:pPr indent="0" marL="0">
              <a:buNone/>
            </a:pPr>
            <a:r>
              <a:rPr lang="en-US" sz="1300" b="1" dirty="0">
                <a:solidFill>
                  <a:srgbClr val="12333B"/>
                </a:solidFill>
                <a:latin typeface="Calibri" pitchFamily="34" charset="0"/>
                <a:ea typeface="Calibri" pitchFamily="34" charset="-122"/>
                <a:cs typeface="Calibri" pitchFamily="34" charset="-120"/>
              </a:rPr>
              <a:t>Frontend</a:t>
            </a:r>
            <a:endParaRPr lang="en-US" sz="1300" dirty="0"/>
          </a:p>
        </p:txBody>
      </p:sp>
      <p:sp>
        <p:nvSpPr>
          <p:cNvPr id="7" name="Text 5"/>
          <p:cNvSpPr/>
          <p:nvPr/>
        </p:nvSpPr>
        <p:spPr>
          <a:xfrm>
            <a:off x="2606040" y="1444752"/>
            <a:ext cx="3291840" cy="274320"/>
          </a:xfrm>
          <a:prstGeom prst="rect">
            <a:avLst/>
          </a:prstGeom>
          <a:noFill/>
          <a:ln/>
        </p:spPr>
        <p:txBody>
          <a:bodyPr wrap="square" lIns="0" tIns="0" rIns="0" bIns="0" rtlCol="0" anchor="ctr"/>
          <a:lstStyle/>
          <a:p>
            <a:pPr indent="0" marL="0">
              <a:buNone/>
            </a:pPr>
            <a:r>
              <a:rPr lang="en-US" sz="1150" dirty="0">
                <a:solidFill>
                  <a:srgbClr val="028090"/>
                </a:solidFill>
                <a:latin typeface="Calibri" pitchFamily="34" charset="0"/>
                <a:ea typeface="Calibri" pitchFamily="34" charset="-122"/>
                <a:cs typeface="Calibri" pitchFamily="34" charset="-120"/>
              </a:rPr>
              <a:t>React · Vite · TypeScript · Tailwind</a:t>
            </a:r>
            <a:endParaRPr lang="en-US" sz="1150" dirty="0"/>
          </a:p>
        </p:txBody>
      </p:sp>
      <p:sp>
        <p:nvSpPr>
          <p:cNvPr id="8" name="Text 6"/>
          <p:cNvSpPr/>
          <p:nvPr/>
        </p:nvSpPr>
        <p:spPr>
          <a:xfrm>
            <a:off x="1069848" y="1737360"/>
            <a:ext cx="4846320" cy="256032"/>
          </a:xfrm>
          <a:prstGeom prst="rect">
            <a:avLst/>
          </a:prstGeom>
          <a:noFill/>
          <a:ln/>
        </p:spPr>
        <p:txBody>
          <a:bodyPr wrap="square" lIns="0" tIns="0" rIns="0" bIns="0" rtlCol="0" anchor="ctr"/>
          <a:lstStyle/>
          <a:p>
            <a:pPr indent="0" marL="0">
              <a:buNone/>
            </a:pPr>
            <a:r>
              <a:rPr lang="en-US" sz="1050" dirty="0">
                <a:solidFill>
                  <a:srgbClr val="5F7379"/>
                </a:solidFill>
                <a:latin typeface="Calibri" pitchFamily="34" charset="0"/>
                <a:ea typeface="Calibri" pitchFamily="34" charset="-122"/>
                <a:cs typeface="Calibri" pitchFamily="34" charset="-120"/>
              </a:rPr>
              <a:t>25 sahifa · bitta tipli API klient</a:t>
            </a:r>
            <a:endParaRPr lang="en-US" sz="1050" dirty="0"/>
          </a:p>
        </p:txBody>
      </p:sp>
      <p:sp>
        <p:nvSpPr>
          <p:cNvPr id="9" name="Text 7"/>
          <p:cNvSpPr/>
          <p:nvPr/>
        </p:nvSpPr>
        <p:spPr>
          <a:xfrm>
            <a:off x="722376" y="2011680"/>
            <a:ext cx="182880" cy="182880"/>
          </a:xfrm>
          <a:prstGeom prst="rect">
            <a:avLst/>
          </a:prstGeom>
          <a:noFill/>
          <a:ln/>
        </p:spPr>
        <p:txBody>
          <a:bodyPr wrap="square" lIns="0" tIns="0" rIns="0" bIns="0" rtlCol="0" anchor="ctr"/>
          <a:lstStyle/>
          <a:p>
            <a:pPr algn="ctr" indent="0" marL="0">
              <a:buNone/>
            </a:pPr>
            <a:r>
              <a:rPr lang="en-US" sz="1200" b="1" dirty="0">
                <a:solidFill>
                  <a:srgbClr val="AFC7CB"/>
                </a:solidFill>
                <a:latin typeface="Calibri" pitchFamily="34" charset="0"/>
                <a:ea typeface="Calibri" pitchFamily="34" charset="-122"/>
                <a:cs typeface="Calibri" pitchFamily="34" charset="-120"/>
              </a:rPr>
              <a:t>↓</a:t>
            </a:r>
            <a:endParaRPr lang="en-US" sz="1200" dirty="0"/>
          </a:p>
        </p:txBody>
      </p:sp>
      <p:sp>
        <p:nvSpPr>
          <p:cNvPr id="10" name="Shape 8"/>
          <p:cNvSpPr/>
          <p:nvPr/>
        </p:nvSpPr>
        <p:spPr>
          <a:xfrm>
            <a:off x="502920" y="2176272"/>
            <a:ext cx="5486400" cy="658368"/>
          </a:xfrm>
          <a:prstGeom prst="roundRect">
            <a:avLst>
              <a:gd name="adj" fmla="val 11111"/>
            </a:avLst>
          </a:prstGeom>
          <a:solidFill>
            <a:srgbClr val="EAF4F5"/>
          </a:solidFill>
          <a:ln w="12700">
            <a:solidFill>
              <a:srgbClr val="EAF4F5"/>
            </a:solidFill>
            <a:prstDash val="solid"/>
          </a:ln>
        </p:spPr>
      </p:sp>
      <p:sp>
        <p:nvSpPr>
          <p:cNvPr id="11" name="Shape 9"/>
          <p:cNvSpPr/>
          <p:nvPr/>
        </p:nvSpPr>
        <p:spPr>
          <a:xfrm>
            <a:off x="685800" y="2377440"/>
            <a:ext cx="256032" cy="256032"/>
          </a:xfrm>
          <a:prstGeom prst="ellipse">
            <a:avLst/>
          </a:prstGeom>
          <a:solidFill>
            <a:srgbClr val="06333D"/>
          </a:solidFill>
          <a:ln w="12700">
            <a:solidFill>
              <a:srgbClr val="06333D"/>
            </a:solidFill>
            <a:prstDash val="solid"/>
          </a:ln>
        </p:spPr>
      </p:sp>
      <p:sp>
        <p:nvSpPr>
          <p:cNvPr id="12" name="Text 10"/>
          <p:cNvSpPr/>
          <p:nvPr/>
        </p:nvSpPr>
        <p:spPr>
          <a:xfrm>
            <a:off x="1069848" y="2231136"/>
            <a:ext cx="1554480" cy="274320"/>
          </a:xfrm>
          <a:prstGeom prst="rect">
            <a:avLst/>
          </a:prstGeom>
          <a:noFill/>
          <a:ln/>
        </p:spPr>
        <p:txBody>
          <a:bodyPr wrap="square" lIns="0" tIns="0" rIns="0" bIns="0" rtlCol="0" anchor="ctr"/>
          <a:lstStyle/>
          <a:p>
            <a:pPr indent="0" marL="0">
              <a:buNone/>
            </a:pPr>
            <a:r>
              <a:rPr lang="en-US" sz="1300" b="1" dirty="0">
                <a:solidFill>
                  <a:srgbClr val="12333B"/>
                </a:solidFill>
                <a:latin typeface="Calibri" pitchFamily="34" charset="0"/>
                <a:ea typeface="Calibri" pitchFamily="34" charset="-122"/>
                <a:cs typeface="Calibri" pitchFamily="34" charset="-120"/>
              </a:rPr>
              <a:t>Backend API</a:t>
            </a:r>
            <a:endParaRPr lang="en-US" sz="1300" dirty="0"/>
          </a:p>
        </p:txBody>
      </p:sp>
      <p:sp>
        <p:nvSpPr>
          <p:cNvPr id="13" name="Text 11"/>
          <p:cNvSpPr/>
          <p:nvPr/>
        </p:nvSpPr>
        <p:spPr>
          <a:xfrm>
            <a:off x="2606040" y="2231136"/>
            <a:ext cx="3291840" cy="274320"/>
          </a:xfrm>
          <a:prstGeom prst="rect">
            <a:avLst/>
          </a:prstGeom>
          <a:noFill/>
          <a:ln/>
        </p:spPr>
        <p:txBody>
          <a:bodyPr wrap="square" lIns="0" tIns="0" rIns="0" bIns="0" rtlCol="0" anchor="ctr"/>
          <a:lstStyle/>
          <a:p>
            <a:pPr indent="0" marL="0">
              <a:buNone/>
            </a:pPr>
            <a:r>
              <a:rPr lang="en-US" sz="1150" dirty="0">
                <a:solidFill>
                  <a:srgbClr val="028090"/>
                </a:solidFill>
                <a:latin typeface="Calibri" pitchFamily="34" charset="0"/>
                <a:ea typeface="Calibri" pitchFamily="34" charset="-122"/>
                <a:cs typeface="Calibri" pitchFamily="34" charset="-120"/>
              </a:rPr>
              <a:t>FastAPI · SQLModel · JWT</a:t>
            </a:r>
            <a:endParaRPr lang="en-US" sz="1150" dirty="0"/>
          </a:p>
        </p:txBody>
      </p:sp>
      <p:sp>
        <p:nvSpPr>
          <p:cNvPr id="14" name="Text 12"/>
          <p:cNvSpPr/>
          <p:nvPr/>
        </p:nvSpPr>
        <p:spPr>
          <a:xfrm>
            <a:off x="1069848" y="2523744"/>
            <a:ext cx="4846320" cy="256032"/>
          </a:xfrm>
          <a:prstGeom prst="rect">
            <a:avLst/>
          </a:prstGeom>
          <a:noFill/>
          <a:ln/>
        </p:spPr>
        <p:txBody>
          <a:bodyPr wrap="square" lIns="0" tIns="0" rIns="0" bIns="0" rtlCol="0" anchor="ctr"/>
          <a:lstStyle/>
          <a:p>
            <a:pPr indent="0" marL="0">
              <a:buNone/>
            </a:pPr>
            <a:r>
              <a:rPr lang="en-US" sz="1050" dirty="0">
                <a:solidFill>
                  <a:srgbClr val="5F7379"/>
                </a:solidFill>
                <a:latin typeface="Calibri" pitchFamily="34" charset="0"/>
                <a:ea typeface="Calibri" pitchFamily="34" charset="-122"/>
                <a:cs typeface="Calibri" pitchFamily="34" charset="-120"/>
              </a:rPr>
              <a:t>15 router · guardrail va audit shu yerda</a:t>
            </a:r>
            <a:endParaRPr lang="en-US" sz="1050" dirty="0"/>
          </a:p>
        </p:txBody>
      </p:sp>
      <p:sp>
        <p:nvSpPr>
          <p:cNvPr id="15" name="Text 13"/>
          <p:cNvSpPr/>
          <p:nvPr/>
        </p:nvSpPr>
        <p:spPr>
          <a:xfrm>
            <a:off x="722376" y="2798064"/>
            <a:ext cx="182880" cy="182880"/>
          </a:xfrm>
          <a:prstGeom prst="rect">
            <a:avLst/>
          </a:prstGeom>
          <a:noFill/>
          <a:ln/>
        </p:spPr>
        <p:txBody>
          <a:bodyPr wrap="square" lIns="0" tIns="0" rIns="0" bIns="0" rtlCol="0" anchor="ctr"/>
          <a:lstStyle/>
          <a:p>
            <a:pPr algn="ctr" indent="0" marL="0">
              <a:buNone/>
            </a:pPr>
            <a:r>
              <a:rPr lang="en-US" sz="1200" b="1" dirty="0">
                <a:solidFill>
                  <a:srgbClr val="AFC7CB"/>
                </a:solidFill>
                <a:latin typeface="Calibri" pitchFamily="34" charset="0"/>
                <a:ea typeface="Calibri" pitchFamily="34" charset="-122"/>
                <a:cs typeface="Calibri" pitchFamily="34" charset="-120"/>
              </a:rPr>
              <a:t>↓</a:t>
            </a:r>
            <a:endParaRPr lang="en-US" sz="1200" dirty="0"/>
          </a:p>
        </p:txBody>
      </p:sp>
      <p:sp>
        <p:nvSpPr>
          <p:cNvPr id="16" name="Shape 14"/>
          <p:cNvSpPr/>
          <p:nvPr/>
        </p:nvSpPr>
        <p:spPr>
          <a:xfrm>
            <a:off x="502920" y="2962656"/>
            <a:ext cx="5486400" cy="658368"/>
          </a:xfrm>
          <a:prstGeom prst="roundRect">
            <a:avLst>
              <a:gd name="adj" fmla="val 11111"/>
            </a:avLst>
          </a:prstGeom>
          <a:solidFill>
            <a:srgbClr val="EAF4F5"/>
          </a:solidFill>
          <a:ln w="12700">
            <a:solidFill>
              <a:srgbClr val="EAF4F5"/>
            </a:solidFill>
            <a:prstDash val="solid"/>
          </a:ln>
        </p:spPr>
      </p:sp>
      <p:sp>
        <p:nvSpPr>
          <p:cNvPr id="17" name="Shape 15"/>
          <p:cNvSpPr/>
          <p:nvPr/>
        </p:nvSpPr>
        <p:spPr>
          <a:xfrm>
            <a:off x="685800" y="3163824"/>
            <a:ext cx="256032" cy="256032"/>
          </a:xfrm>
          <a:prstGeom prst="ellipse">
            <a:avLst/>
          </a:prstGeom>
          <a:solidFill>
            <a:srgbClr val="02C39A"/>
          </a:solidFill>
          <a:ln w="12700">
            <a:solidFill>
              <a:srgbClr val="02C39A"/>
            </a:solidFill>
            <a:prstDash val="solid"/>
          </a:ln>
        </p:spPr>
      </p:sp>
      <p:sp>
        <p:nvSpPr>
          <p:cNvPr id="18" name="Text 16"/>
          <p:cNvSpPr/>
          <p:nvPr/>
        </p:nvSpPr>
        <p:spPr>
          <a:xfrm>
            <a:off x="1069848" y="3017520"/>
            <a:ext cx="1554480" cy="274320"/>
          </a:xfrm>
          <a:prstGeom prst="rect">
            <a:avLst/>
          </a:prstGeom>
          <a:noFill/>
          <a:ln/>
        </p:spPr>
        <p:txBody>
          <a:bodyPr wrap="square" lIns="0" tIns="0" rIns="0" bIns="0" rtlCol="0" anchor="ctr"/>
          <a:lstStyle/>
          <a:p>
            <a:pPr indent="0" marL="0">
              <a:buNone/>
            </a:pPr>
            <a:r>
              <a:rPr lang="en-US" sz="1300" b="1" dirty="0">
                <a:solidFill>
                  <a:srgbClr val="12333B"/>
                </a:solidFill>
                <a:latin typeface="Calibri" pitchFamily="34" charset="0"/>
                <a:ea typeface="Calibri" pitchFamily="34" charset="-122"/>
                <a:cs typeface="Calibri" pitchFamily="34" charset="-120"/>
              </a:rPr>
              <a:t>Ma'lumot</a:t>
            </a:r>
            <a:endParaRPr lang="en-US" sz="1300" dirty="0"/>
          </a:p>
        </p:txBody>
      </p:sp>
      <p:sp>
        <p:nvSpPr>
          <p:cNvPr id="19" name="Text 17"/>
          <p:cNvSpPr/>
          <p:nvPr/>
        </p:nvSpPr>
        <p:spPr>
          <a:xfrm>
            <a:off x="2606040" y="3017520"/>
            <a:ext cx="3291840" cy="274320"/>
          </a:xfrm>
          <a:prstGeom prst="rect">
            <a:avLst/>
          </a:prstGeom>
          <a:noFill/>
          <a:ln/>
        </p:spPr>
        <p:txBody>
          <a:bodyPr wrap="square" lIns="0" tIns="0" rIns="0" bIns="0" rtlCol="0" anchor="ctr"/>
          <a:lstStyle/>
          <a:p>
            <a:pPr indent="0" marL="0">
              <a:buNone/>
            </a:pPr>
            <a:r>
              <a:rPr lang="en-US" sz="1150" dirty="0">
                <a:solidFill>
                  <a:srgbClr val="028090"/>
                </a:solidFill>
                <a:latin typeface="Calibri" pitchFamily="34" charset="0"/>
                <a:ea typeface="Calibri" pitchFamily="34" charset="-122"/>
                <a:cs typeface="Calibri" pitchFamily="34" charset="-120"/>
              </a:rPr>
              <a:t>SQLite → PostgreSQL</a:t>
            </a:r>
            <a:endParaRPr lang="en-US" sz="1150" dirty="0"/>
          </a:p>
        </p:txBody>
      </p:sp>
      <p:sp>
        <p:nvSpPr>
          <p:cNvPr id="20" name="Text 18"/>
          <p:cNvSpPr/>
          <p:nvPr/>
        </p:nvSpPr>
        <p:spPr>
          <a:xfrm>
            <a:off x="1069848" y="3310128"/>
            <a:ext cx="4846320" cy="256032"/>
          </a:xfrm>
          <a:prstGeom prst="rect">
            <a:avLst/>
          </a:prstGeom>
          <a:noFill/>
          <a:ln/>
        </p:spPr>
        <p:txBody>
          <a:bodyPr wrap="square" lIns="0" tIns="0" rIns="0" bIns="0" rtlCol="0" anchor="ctr"/>
          <a:lstStyle/>
          <a:p>
            <a:pPr indent="0" marL="0">
              <a:buNone/>
            </a:pPr>
            <a:r>
              <a:rPr lang="en-US" sz="1050" dirty="0">
                <a:solidFill>
                  <a:srgbClr val="5F7379"/>
                </a:solidFill>
                <a:latin typeface="Calibri" pitchFamily="34" charset="0"/>
                <a:ea typeface="Calibri" pitchFamily="34" charset="-122"/>
                <a:cs typeface="Calibri" pitchFamily="34" charset="-120"/>
              </a:rPr>
              <a:t>audit_events · barcha statistika real satrlardan</a:t>
            </a:r>
            <a:endParaRPr lang="en-US" sz="1050" dirty="0"/>
          </a:p>
        </p:txBody>
      </p:sp>
      <p:sp>
        <p:nvSpPr>
          <p:cNvPr id="21" name="Shape 19"/>
          <p:cNvSpPr/>
          <p:nvPr/>
        </p:nvSpPr>
        <p:spPr>
          <a:xfrm>
            <a:off x="6172200" y="1389888"/>
            <a:ext cx="2468880" cy="2377440"/>
          </a:xfrm>
          <a:prstGeom prst="roundRect">
            <a:avLst>
              <a:gd name="adj" fmla="val 3077"/>
            </a:avLst>
          </a:prstGeom>
          <a:solidFill>
            <a:srgbClr val="06333D"/>
          </a:solidFill>
          <a:ln w="12700">
            <a:solidFill>
              <a:srgbClr val="06333D"/>
            </a:solidFill>
            <a:prstDash val="solid"/>
          </a:ln>
        </p:spPr>
      </p:sp>
      <p:sp>
        <p:nvSpPr>
          <p:cNvPr id="22" name="Text 20"/>
          <p:cNvSpPr/>
          <p:nvPr/>
        </p:nvSpPr>
        <p:spPr>
          <a:xfrm>
            <a:off x="6373368" y="1572768"/>
            <a:ext cx="21031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Tashqi API'lar</a:t>
            </a:r>
            <a:endParaRPr lang="en-US" sz="1300" dirty="0"/>
          </a:p>
        </p:txBody>
      </p:sp>
      <p:sp>
        <p:nvSpPr>
          <p:cNvPr id="23" name="Text 21"/>
          <p:cNvSpPr/>
          <p:nvPr/>
        </p:nvSpPr>
        <p:spPr>
          <a:xfrm>
            <a:off x="6391656" y="1920240"/>
            <a:ext cx="2103120" cy="54864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C8DDE0"/>
                </a:solidFill>
                <a:latin typeface="Calibri" pitchFamily="34" charset="0"/>
                <a:ea typeface="Calibri" pitchFamily="34" charset="-122"/>
                <a:cs typeface="Calibri" pitchFamily="34" charset="-120"/>
              </a:rPr>
              <a:t>Gemini — AI assistent</a:t>
            </a:r>
            <a:endParaRPr lang="en-US" sz="1100" dirty="0"/>
          </a:p>
          <a:p>
            <a:pPr marL="342900" indent="-342900">
              <a:spcAft>
                <a:spcPts val="400"/>
              </a:spcAft>
              <a:buSzPct val="100000"/>
              <a:buChar char="•"/>
            </a:pPr>
            <a:r>
              <a:rPr lang="en-US" sz="1100" dirty="0">
                <a:solidFill>
                  <a:srgbClr val="C8DDE0"/>
                </a:solidFill>
                <a:latin typeface="Calibri" pitchFamily="34" charset="0"/>
                <a:ea typeface="Calibri" pitchFamily="34" charset="-122"/>
                <a:cs typeface="Calibri" pitchFamily="34" charset="-120"/>
              </a:rPr>
              <a:t>Pexels — rasm xizmati</a:t>
            </a:r>
            <a:endParaRPr lang="en-US" sz="1100" dirty="0"/>
          </a:p>
        </p:txBody>
      </p:sp>
      <p:sp>
        <p:nvSpPr>
          <p:cNvPr id="24" name="Text 22"/>
          <p:cNvSpPr/>
          <p:nvPr/>
        </p:nvSpPr>
        <p:spPr>
          <a:xfrm>
            <a:off x="6373368" y="2578608"/>
            <a:ext cx="2139696" cy="1097280"/>
          </a:xfrm>
          <a:prstGeom prst="rect">
            <a:avLst/>
          </a:prstGeom>
          <a:noFill/>
          <a:ln/>
        </p:spPr>
        <p:txBody>
          <a:bodyPr wrap="square" lIns="0" tIns="0" rIns="0" bIns="0" rtlCol="0" anchor="ctr"/>
          <a:lstStyle/>
          <a:p>
            <a:pPr indent="0" marL="0">
              <a:lnSpc>
                <a:spcPct val="115000"/>
              </a:lnSpc>
              <a:buNone/>
            </a:pPr>
            <a:r>
              <a:rPr lang="en-US" sz="1050" dirty="0">
                <a:solidFill>
                  <a:srgbClr val="02C39A"/>
                </a:solidFill>
                <a:latin typeface="Calibri" pitchFamily="34" charset="0"/>
                <a:ea typeface="Calibri" pitchFamily="34" charset="-122"/>
                <a:cs typeface="Calibri" pitchFamily="34" charset="-120"/>
              </a:rPr>
              <a:t>Ikkalasi ham faqat server tomonda chaqiriladi.</a:t>
            </a:r>
            <a:endParaRPr lang="en-US" sz="1050" dirty="0"/>
          </a:p>
          <a:p>
            <a:pPr indent="0" marL="0">
              <a:lnSpc>
                <a:spcPct val="115000"/>
              </a:lnSpc>
              <a:buNone/>
            </a:pPr>
            <a:endParaRPr lang="en-US" sz="1050" dirty="0"/>
          </a:p>
          <a:p>
            <a:pPr indent="0" marL="0">
              <a:lnSpc>
                <a:spcPct val="115000"/>
              </a:lnSpc>
              <a:buNone/>
            </a:pPr>
            <a:r>
              <a:rPr lang="en-US" sz="1050" dirty="0">
                <a:solidFill>
                  <a:srgbClr val="02C39A"/>
                </a:solidFill>
                <a:latin typeface="Calibri" pitchFamily="34" charset="0"/>
                <a:ea typeface="Calibri" pitchFamily="34" charset="-122"/>
                <a:cs typeface="Calibri" pitchFamily="34" charset="-120"/>
              </a:rPr>
              <a:t>API kaliti brauzerga, VITE_ o'zgaruvchiga yoki Git'ga hech qachon tushmaydi.</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333D"/>
        </a:solidFill>
      </p:bgPr>
    </p:bg>
    <p:spTree>
      <p:nvGrpSpPr>
        <p:cNvPr id="1" name=""/>
        <p:cNvGrpSpPr/>
        <p:nvPr/>
      </p:nvGrpSpPr>
      <p:grpSpPr>
        <a:xfrm>
          <a:off x="0" y="0"/>
          <a:ext cx="0" cy="0"/>
          <a:chOff x="0" y="0"/>
          <a:chExt cx="0" cy="0"/>
        </a:xfrm>
      </p:grpSpPr>
      <p:sp>
        <p:nvSpPr>
          <p:cNvPr id="2" name="Text 0"/>
          <p:cNvSpPr/>
          <p:nvPr/>
        </p:nvSpPr>
        <p:spPr>
          <a:xfrm>
            <a:off x="502920" y="411480"/>
            <a:ext cx="813816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Muhandislik holati</a:t>
            </a:r>
            <a:endParaRPr lang="en-US" sz="3200" dirty="0"/>
          </a:p>
        </p:txBody>
      </p:sp>
      <p:sp>
        <p:nvSpPr>
          <p:cNvPr id="3" name="Text 1"/>
          <p:cNvSpPr/>
          <p:nvPr/>
        </p:nvSpPr>
        <p:spPr>
          <a:xfrm>
            <a:off x="502920" y="960120"/>
            <a:ext cx="8138160" cy="310896"/>
          </a:xfrm>
          <a:prstGeom prst="rect">
            <a:avLst/>
          </a:prstGeom>
          <a:noFill/>
          <a:ln/>
        </p:spPr>
        <p:txBody>
          <a:bodyPr wrap="square" lIns="0" tIns="0" rIns="0" bIns="0" rtlCol="0" anchor="ctr"/>
          <a:lstStyle/>
          <a:p>
            <a:pPr indent="0" marL="0">
              <a:buNone/>
            </a:pPr>
            <a:r>
              <a:rPr lang="en-US" sz="1300" dirty="0">
                <a:solidFill>
                  <a:srgbClr val="9FB6BB"/>
                </a:solidFill>
                <a:latin typeface="Calibri" pitchFamily="34" charset="0"/>
                <a:ea typeface="Calibri" pitchFamily="34" charset="-122"/>
                <a:cs typeface="Calibri" pitchFamily="34" charset="-120"/>
              </a:rPr>
              <a:t>Loyiha ishlaydi va testlar bilan qoplangan</a:t>
            </a:r>
            <a:endParaRPr lang="en-US" sz="1300" dirty="0"/>
          </a:p>
        </p:txBody>
      </p:sp>
      <p:sp>
        <p:nvSpPr>
          <p:cNvPr id="4" name="Text 2"/>
          <p:cNvSpPr/>
          <p:nvPr/>
        </p:nvSpPr>
        <p:spPr>
          <a:xfrm>
            <a:off x="502920" y="1627632"/>
            <a:ext cx="1897380" cy="786384"/>
          </a:xfrm>
          <a:prstGeom prst="rect">
            <a:avLst/>
          </a:prstGeom>
          <a:noFill/>
          <a:ln/>
        </p:spPr>
        <p:txBody>
          <a:bodyPr wrap="square" lIns="0" tIns="0" rIns="0" bIns="0" rtlCol="0" anchor="ctr"/>
          <a:lstStyle/>
          <a:p>
            <a:pPr indent="0" marL="0">
              <a:buNone/>
            </a:pPr>
            <a:r>
              <a:rPr lang="en-US" sz="4600" b="1" dirty="0">
                <a:solidFill>
                  <a:srgbClr val="02C39A"/>
                </a:solidFill>
                <a:latin typeface="Cambria" pitchFamily="34" charset="0"/>
                <a:ea typeface="Cambria" pitchFamily="34" charset="-122"/>
                <a:cs typeface="Cambria" pitchFamily="34" charset="-120"/>
              </a:rPr>
              <a:t>190</a:t>
            </a:r>
            <a:endParaRPr lang="en-US" sz="4600" dirty="0"/>
          </a:p>
        </p:txBody>
      </p:sp>
      <p:sp>
        <p:nvSpPr>
          <p:cNvPr id="5" name="Text 3"/>
          <p:cNvSpPr/>
          <p:nvPr/>
        </p:nvSpPr>
        <p:spPr>
          <a:xfrm>
            <a:off x="502920" y="2414016"/>
            <a:ext cx="1897380" cy="274320"/>
          </a:xfrm>
          <a:prstGeom prst="rect">
            <a:avLst/>
          </a:prstGeom>
          <a:noFill/>
          <a:ln/>
        </p:spPr>
        <p:txBody>
          <a:bodyPr wrap="square" lIns="0" tIns="0" rIns="0" bIns="0" rtlCol="0" anchor="ctr"/>
          <a:lstStyle/>
          <a:p>
            <a:pPr indent="0" marL="0">
              <a:buNone/>
            </a:pPr>
            <a:r>
              <a:rPr lang="en-US" sz="1250" dirty="0">
                <a:solidFill>
                  <a:srgbClr val="9FB6BB"/>
                </a:solidFill>
                <a:latin typeface="Calibri" pitchFamily="34" charset="0"/>
                <a:ea typeface="Calibri" pitchFamily="34" charset="-122"/>
                <a:cs typeface="Calibri" pitchFamily="34" charset="-120"/>
              </a:rPr>
              <a:t>test</a:t>
            </a:r>
            <a:endParaRPr lang="en-US" sz="1250" dirty="0"/>
          </a:p>
        </p:txBody>
      </p:sp>
      <p:sp>
        <p:nvSpPr>
          <p:cNvPr id="6" name="Text 4"/>
          <p:cNvSpPr/>
          <p:nvPr/>
        </p:nvSpPr>
        <p:spPr>
          <a:xfrm>
            <a:off x="2583180" y="1627632"/>
            <a:ext cx="1897380" cy="786384"/>
          </a:xfrm>
          <a:prstGeom prst="rect">
            <a:avLst/>
          </a:prstGeom>
          <a:noFill/>
          <a:ln/>
        </p:spPr>
        <p:txBody>
          <a:bodyPr wrap="square" lIns="0" tIns="0" rIns="0" bIns="0" rtlCol="0" anchor="ctr"/>
          <a:lstStyle/>
          <a:p>
            <a:pPr indent="0" marL="0">
              <a:buNone/>
            </a:pPr>
            <a:r>
              <a:rPr lang="en-US" sz="4600" b="1" dirty="0">
                <a:solidFill>
                  <a:srgbClr val="02C39A"/>
                </a:solidFill>
                <a:latin typeface="Cambria" pitchFamily="34" charset="0"/>
                <a:ea typeface="Cambria" pitchFamily="34" charset="-122"/>
                <a:cs typeface="Cambria" pitchFamily="34" charset="-120"/>
              </a:rPr>
              <a:t>15</a:t>
            </a:r>
            <a:endParaRPr lang="en-US" sz="4600" dirty="0"/>
          </a:p>
        </p:txBody>
      </p:sp>
      <p:sp>
        <p:nvSpPr>
          <p:cNvPr id="7" name="Text 5"/>
          <p:cNvSpPr/>
          <p:nvPr/>
        </p:nvSpPr>
        <p:spPr>
          <a:xfrm>
            <a:off x="2583180" y="2414016"/>
            <a:ext cx="1897380" cy="274320"/>
          </a:xfrm>
          <a:prstGeom prst="rect">
            <a:avLst/>
          </a:prstGeom>
          <a:noFill/>
          <a:ln/>
        </p:spPr>
        <p:txBody>
          <a:bodyPr wrap="square" lIns="0" tIns="0" rIns="0" bIns="0" rtlCol="0" anchor="ctr"/>
          <a:lstStyle/>
          <a:p>
            <a:pPr indent="0" marL="0">
              <a:buNone/>
            </a:pPr>
            <a:r>
              <a:rPr lang="en-US" sz="1250" dirty="0">
                <a:solidFill>
                  <a:srgbClr val="9FB6BB"/>
                </a:solidFill>
                <a:latin typeface="Calibri" pitchFamily="34" charset="0"/>
                <a:ea typeface="Calibri" pitchFamily="34" charset="-122"/>
                <a:cs typeface="Calibri" pitchFamily="34" charset="-120"/>
              </a:rPr>
              <a:t>API router</a:t>
            </a:r>
            <a:endParaRPr lang="en-US" sz="1250" dirty="0"/>
          </a:p>
        </p:txBody>
      </p:sp>
      <p:sp>
        <p:nvSpPr>
          <p:cNvPr id="8" name="Text 6"/>
          <p:cNvSpPr/>
          <p:nvPr/>
        </p:nvSpPr>
        <p:spPr>
          <a:xfrm>
            <a:off x="4663440" y="1627632"/>
            <a:ext cx="1897380" cy="786384"/>
          </a:xfrm>
          <a:prstGeom prst="rect">
            <a:avLst/>
          </a:prstGeom>
          <a:noFill/>
          <a:ln/>
        </p:spPr>
        <p:txBody>
          <a:bodyPr wrap="square" lIns="0" tIns="0" rIns="0" bIns="0" rtlCol="0" anchor="ctr"/>
          <a:lstStyle/>
          <a:p>
            <a:pPr indent="0" marL="0">
              <a:buNone/>
            </a:pPr>
            <a:r>
              <a:rPr lang="en-US" sz="4600" b="1" dirty="0">
                <a:solidFill>
                  <a:srgbClr val="02C39A"/>
                </a:solidFill>
                <a:latin typeface="Cambria" pitchFamily="34" charset="0"/>
                <a:ea typeface="Cambria" pitchFamily="34" charset="-122"/>
                <a:cs typeface="Cambria" pitchFamily="34" charset="-120"/>
              </a:rPr>
              <a:t>25</a:t>
            </a:r>
            <a:endParaRPr lang="en-US" sz="4600" dirty="0"/>
          </a:p>
        </p:txBody>
      </p:sp>
      <p:sp>
        <p:nvSpPr>
          <p:cNvPr id="9" name="Text 7"/>
          <p:cNvSpPr/>
          <p:nvPr/>
        </p:nvSpPr>
        <p:spPr>
          <a:xfrm>
            <a:off x="4663440" y="2414016"/>
            <a:ext cx="1897380" cy="274320"/>
          </a:xfrm>
          <a:prstGeom prst="rect">
            <a:avLst/>
          </a:prstGeom>
          <a:noFill/>
          <a:ln/>
        </p:spPr>
        <p:txBody>
          <a:bodyPr wrap="square" lIns="0" tIns="0" rIns="0" bIns="0" rtlCol="0" anchor="ctr"/>
          <a:lstStyle/>
          <a:p>
            <a:pPr indent="0" marL="0">
              <a:buNone/>
            </a:pPr>
            <a:r>
              <a:rPr lang="en-US" sz="1250" dirty="0">
                <a:solidFill>
                  <a:srgbClr val="9FB6BB"/>
                </a:solidFill>
                <a:latin typeface="Calibri" pitchFamily="34" charset="0"/>
                <a:ea typeface="Calibri" pitchFamily="34" charset="-122"/>
                <a:cs typeface="Calibri" pitchFamily="34" charset="-120"/>
              </a:rPr>
              <a:t>sahifa</a:t>
            </a:r>
            <a:endParaRPr lang="en-US" sz="1250" dirty="0"/>
          </a:p>
        </p:txBody>
      </p:sp>
      <p:sp>
        <p:nvSpPr>
          <p:cNvPr id="10" name="Text 8"/>
          <p:cNvSpPr/>
          <p:nvPr/>
        </p:nvSpPr>
        <p:spPr>
          <a:xfrm>
            <a:off x="6743700" y="1627632"/>
            <a:ext cx="1897380" cy="786384"/>
          </a:xfrm>
          <a:prstGeom prst="rect">
            <a:avLst/>
          </a:prstGeom>
          <a:noFill/>
          <a:ln/>
        </p:spPr>
        <p:txBody>
          <a:bodyPr wrap="square" lIns="0" tIns="0" rIns="0" bIns="0" rtlCol="0" anchor="ctr"/>
          <a:lstStyle/>
          <a:p>
            <a:pPr indent="0" marL="0">
              <a:buNone/>
            </a:pPr>
            <a:r>
              <a:rPr lang="en-US" sz="4600" b="1" dirty="0">
                <a:solidFill>
                  <a:srgbClr val="02C39A"/>
                </a:solidFill>
                <a:latin typeface="Cambria" pitchFamily="34" charset="0"/>
                <a:ea typeface="Cambria" pitchFamily="34" charset="-122"/>
                <a:cs typeface="Cambria" pitchFamily="34" charset="-120"/>
              </a:rPr>
              <a:t>27k</a:t>
            </a:r>
            <a:endParaRPr lang="en-US" sz="4600" dirty="0"/>
          </a:p>
        </p:txBody>
      </p:sp>
      <p:sp>
        <p:nvSpPr>
          <p:cNvPr id="11" name="Text 9"/>
          <p:cNvSpPr/>
          <p:nvPr/>
        </p:nvSpPr>
        <p:spPr>
          <a:xfrm>
            <a:off x="6743700" y="2414016"/>
            <a:ext cx="1897380" cy="274320"/>
          </a:xfrm>
          <a:prstGeom prst="rect">
            <a:avLst/>
          </a:prstGeom>
          <a:noFill/>
          <a:ln/>
        </p:spPr>
        <p:txBody>
          <a:bodyPr wrap="square" lIns="0" tIns="0" rIns="0" bIns="0" rtlCol="0" anchor="ctr"/>
          <a:lstStyle/>
          <a:p>
            <a:pPr indent="0" marL="0">
              <a:buNone/>
            </a:pPr>
            <a:r>
              <a:rPr lang="en-US" sz="1250" dirty="0">
                <a:solidFill>
                  <a:srgbClr val="9FB6BB"/>
                </a:solidFill>
                <a:latin typeface="Calibri" pitchFamily="34" charset="0"/>
                <a:ea typeface="Calibri" pitchFamily="34" charset="-122"/>
                <a:cs typeface="Calibri" pitchFamily="34" charset="-120"/>
              </a:rPr>
              <a:t>satr kod</a:t>
            </a:r>
            <a:endParaRPr lang="en-US" sz="1250" dirty="0"/>
          </a:p>
        </p:txBody>
      </p:sp>
      <p:sp>
        <p:nvSpPr>
          <p:cNvPr id="12" name="Shape 10"/>
          <p:cNvSpPr/>
          <p:nvPr/>
        </p:nvSpPr>
        <p:spPr>
          <a:xfrm>
            <a:off x="502920" y="3017520"/>
            <a:ext cx="8138160" cy="960120"/>
          </a:xfrm>
          <a:prstGeom prst="roundRect">
            <a:avLst>
              <a:gd name="adj" fmla="val 7619"/>
            </a:avLst>
          </a:prstGeom>
          <a:solidFill>
            <a:srgbClr val="0C4552"/>
          </a:solidFill>
          <a:ln w="12700">
            <a:solidFill>
              <a:srgbClr val="0C4552"/>
            </a:solidFill>
            <a:prstDash val="solid"/>
          </a:ln>
        </p:spPr>
      </p:sp>
      <p:sp>
        <p:nvSpPr>
          <p:cNvPr id="13" name="Text 11"/>
          <p:cNvSpPr/>
          <p:nvPr/>
        </p:nvSpPr>
        <p:spPr>
          <a:xfrm>
            <a:off x="777240" y="3145536"/>
            <a:ext cx="7589520" cy="73152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D6E7EA"/>
                </a:solidFill>
                <a:latin typeface="Calibri" pitchFamily="34" charset="0"/>
                <a:ea typeface="Calibri" pitchFamily="34" charset="-122"/>
                <a:cs typeface="Calibri" pitchFamily="34" charset="-120"/>
              </a:rPr>
              <a:t>Testlar guardrail va ruxsatlarga qaratilgan — chiroyli sahifalarga emas.</a:t>
            </a:r>
            <a:endParaRPr lang="en-US" sz="1200" dirty="0"/>
          </a:p>
          <a:p>
            <a:pPr marL="342900" indent="-342900">
              <a:spcAft>
                <a:spcPts val="600"/>
              </a:spcAft>
              <a:buSzPct val="100000"/>
              <a:buChar char="•"/>
            </a:pPr>
            <a:r>
              <a:rPr lang="en-US" sz="1200" dirty="0">
                <a:solidFill>
                  <a:srgbClr val="D6E7EA"/>
                </a:solidFill>
                <a:latin typeface="Calibri" pitchFamily="34" charset="0"/>
                <a:ea typeface="Calibri" pitchFamily="34" charset="-122"/>
                <a:cs typeface="Calibri" pitchFamily="34" charset="-120"/>
              </a:rPr>
              <a:t>Docker bilan bitta buyruqda ko'tariladi; Railway va Vercel'ga deploy qilinadi.</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84048"/>
            <a:ext cx="8138160" cy="548640"/>
          </a:xfrm>
          <a:prstGeom prst="rect">
            <a:avLst/>
          </a:prstGeom>
          <a:noFill/>
          <a:ln/>
        </p:spPr>
        <p:txBody>
          <a:bodyPr wrap="square" lIns="0" tIns="0" rIns="0" bIns="0" rtlCol="0" anchor="ctr"/>
          <a:lstStyle/>
          <a:p>
            <a:pPr indent="0" marL="0">
              <a:buNone/>
            </a:pPr>
            <a:r>
              <a:rPr lang="en-US" sz="3200" b="1" dirty="0">
                <a:solidFill>
                  <a:srgbClr val="12333B"/>
                </a:solidFill>
                <a:latin typeface="Cambria" pitchFamily="34" charset="0"/>
                <a:ea typeface="Cambria" pitchFamily="34" charset="-122"/>
                <a:cs typeface="Cambria" pitchFamily="34" charset="-120"/>
              </a:rPr>
              <a:t>Nima real, nima simulyatsiya</a:t>
            </a:r>
            <a:endParaRPr lang="en-US" sz="3200" dirty="0"/>
          </a:p>
        </p:txBody>
      </p:sp>
      <p:sp>
        <p:nvSpPr>
          <p:cNvPr id="3" name="Text 1"/>
          <p:cNvSpPr/>
          <p:nvPr/>
        </p:nvSpPr>
        <p:spPr>
          <a:xfrm>
            <a:off x="502920" y="932688"/>
            <a:ext cx="8138160" cy="310896"/>
          </a:xfrm>
          <a:prstGeom prst="rect">
            <a:avLst/>
          </a:prstGeom>
          <a:noFill/>
          <a:ln/>
        </p:spPr>
        <p:txBody>
          <a:bodyPr wrap="square" lIns="0" tIns="0" rIns="0" bIns="0" rtlCol="0" anchor="ctr"/>
          <a:lstStyle/>
          <a:p>
            <a:pPr indent="0" marL="0">
              <a:buNone/>
            </a:pPr>
            <a:r>
              <a:rPr lang="en-US" sz="1300" dirty="0">
                <a:solidFill>
                  <a:srgbClr val="5F7379"/>
                </a:solidFill>
                <a:latin typeface="Calibri" pitchFamily="34" charset="0"/>
                <a:ea typeface="Calibri" pitchFamily="34" charset="-122"/>
                <a:cs typeface="Calibri" pitchFamily="34" charset="-120"/>
              </a:rPr>
              <a:t>Ochiq aytamiz — hakam baribir so'raydi</a:t>
            </a:r>
            <a:endParaRPr lang="en-US" sz="1300" dirty="0"/>
          </a:p>
        </p:txBody>
      </p:sp>
      <p:sp>
        <p:nvSpPr>
          <p:cNvPr id="4" name="Shape 2"/>
          <p:cNvSpPr/>
          <p:nvPr/>
        </p:nvSpPr>
        <p:spPr>
          <a:xfrm>
            <a:off x="502920" y="1417320"/>
            <a:ext cx="3931920" cy="2514600"/>
          </a:xfrm>
          <a:prstGeom prst="roundRect">
            <a:avLst>
              <a:gd name="adj" fmla="val 2909"/>
            </a:avLst>
          </a:prstGeom>
          <a:solidFill>
            <a:srgbClr val="EAF4F5"/>
          </a:solidFill>
          <a:ln w="12700">
            <a:solidFill>
              <a:srgbClr val="EAF4F5"/>
            </a:solidFill>
            <a:prstDash val="solid"/>
          </a:ln>
        </p:spPr>
      </p:sp>
      <p:sp>
        <p:nvSpPr>
          <p:cNvPr id="5" name="Text 3"/>
          <p:cNvSpPr/>
          <p:nvPr/>
        </p:nvSpPr>
        <p:spPr>
          <a:xfrm>
            <a:off x="740664" y="1572768"/>
            <a:ext cx="3474720" cy="292608"/>
          </a:xfrm>
          <a:prstGeom prst="rect">
            <a:avLst/>
          </a:prstGeom>
          <a:noFill/>
          <a:ln/>
        </p:spPr>
        <p:txBody>
          <a:bodyPr wrap="square" lIns="0" tIns="0" rIns="0" bIns="0" rtlCol="0" anchor="ctr"/>
          <a:lstStyle/>
          <a:p>
            <a:pPr indent="0" marL="0">
              <a:buNone/>
            </a:pPr>
            <a:r>
              <a:rPr lang="en-US" sz="1500" b="1" dirty="0">
                <a:solidFill>
                  <a:srgbClr val="028090"/>
                </a:solidFill>
                <a:latin typeface="Calibri" pitchFamily="34" charset="0"/>
                <a:ea typeface="Calibri" pitchFamily="34" charset="-122"/>
                <a:cs typeface="Calibri" pitchFamily="34" charset="-120"/>
              </a:rPr>
              <a:t>Real va ishlaydi</a:t>
            </a:r>
            <a:endParaRPr lang="en-US" sz="1500" dirty="0"/>
          </a:p>
        </p:txBody>
      </p:sp>
      <p:sp>
        <p:nvSpPr>
          <p:cNvPr id="6" name="Text 4"/>
          <p:cNvSpPr/>
          <p:nvPr/>
        </p:nvSpPr>
        <p:spPr>
          <a:xfrm>
            <a:off x="740664" y="1956816"/>
            <a:ext cx="3456432" cy="1828800"/>
          </a:xfrm>
          <a:prstGeom prst="rect">
            <a:avLst/>
          </a:prstGeom>
          <a:noFill/>
          <a:ln/>
        </p:spPr>
        <p:txBody>
          <a:bodyPr wrap="square" lIns="0" tIns="0" rIns="0" bIns="0" rtlCol="0" anchor="ctr"/>
          <a:lstStyle/>
          <a:p>
            <a:pPr marL="342900" indent="-342900">
              <a:spcAft>
                <a:spcPts val="500"/>
              </a:spcAft>
              <a:buSzPct val="100000"/>
              <a:buChar char="•"/>
            </a:pPr>
            <a:r>
              <a:rPr lang="en-US" sz="1150" dirty="0">
                <a:solidFill>
                  <a:srgbClr val="12333B"/>
                </a:solidFill>
                <a:latin typeface="Calibri" pitchFamily="34" charset="0"/>
                <a:ea typeface="Calibri" pitchFamily="34" charset="-122"/>
                <a:cs typeface="Calibri" pitchFamily="34" charset="-120"/>
              </a:rPr>
              <a:t>Guardrail qatlami</a:t>
            </a:r>
            <a:endParaRPr lang="en-US" sz="1150" dirty="0"/>
          </a:p>
          <a:p>
            <a:pPr marL="342900" indent="-342900">
              <a:spcAft>
                <a:spcPts val="500"/>
              </a:spcAft>
              <a:buSzPct val="100000"/>
              <a:buChar char="•"/>
            </a:pPr>
            <a:r>
              <a:rPr lang="en-US" sz="1150" dirty="0">
                <a:solidFill>
                  <a:srgbClr val="12333B"/>
                </a:solidFill>
                <a:latin typeface="Calibri" pitchFamily="34" charset="0"/>
                <a:ea typeface="Calibri" pitchFamily="34" charset="-122"/>
                <a:cs typeface="Calibri" pitchFamily="34" charset="-120"/>
              </a:rPr>
              <a:t>Audit izi va governance metrikalari</a:t>
            </a:r>
            <a:endParaRPr lang="en-US" sz="1150" dirty="0"/>
          </a:p>
          <a:p>
            <a:pPr marL="342900" indent="-342900">
              <a:spcAft>
                <a:spcPts val="500"/>
              </a:spcAft>
              <a:buSzPct val="100000"/>
              <a:buChar char="•"/>
            </a:pPr>
            <a:r>
              <a:rPr lang="en-US" sz="1150" dirty="0">
                <a:solidFill>
                  <a:srgbClr val="12333B"/>
                </a:solidFill>
                <a:latin typeface="Calibri" pitchFamily="34" charset="0"/>
                <a:ea typeface="Calibri" pitchFamily="34" charset="-122"/>
                <a:cs typeface="Calibri" pitchFamily="34" charset="-120"/>
              </a:rPr>
              <a:t>Majburiy tartib (409)</a:t>
            </a:r>
            <a:endParaRPr lang="en-US" sz="1150" dirty="0"/>
          </a:p>
          <a:p>
            <a:pPr marL="342900" indent="-342900">
              <a:spcAft>
                <a:spcPts val="500"/>
              </a:spcAft>
              <a:buSzPct val="100000"/>
              <a:buChar char="•"/>
            </a:pPr>
            <a:r>
              <a:rPr lang="en-US" sz="1150" dirty="0">
                <a:solidFill>
                  <a:srgbClr val="12333B"/>
                </a:solidFill>
                <a:latin typeface="Calibri" pitchFamily="34" charset="0"/>
                <a:ea typeface="Calibri" pitchFamily="34" charset="-122"/>
                <a:cs typeface="Calibri" pitchFamily="34" charset="-120"/>
              </a:rPr>
              <a:t>Ruxsatlar: talaba / premium / o'qituvchi</a:t>
            </a:r>
            <a:endParaRPr lang="en-US" sz="1150" dirty="0"/>
          </a:p>
          <a:p>
            <a:pPr marL="342900" indent="-342900">
              <a:spcAft>
                <a:spcPts val="500"/>
              </a:spcAft>
              <a:buSzPct val="100000"/>
              <a:buChar char="•"/>
            </a:pPr>
            <a:r>
              <a:rPr lang="en-US" sz="1150" dirty="0">
                <a:solidFill>
                  <a:srgbClr val="12333B"/>
                </a:solidFill>
                <a:latin typeface="Calibri" pitchFamily="34" charset="0"/>
                <a:ea typeface="Calibri" pitchFamily="34" charset="-122"/>
                <a:cs typeface="Calibri" pitchFamily="34" charset="-120"/>
              </a:rPr>
              <a:t>Anonimlashtirish darvozasi</a:t>
            </a:r>
            <a:endParaRPr lang="en-US" sz="1150" dirty="0"/>
          </a:p>
          <a:p>
            <a:pPr marL="342900" indent="-342900">
              <a:spcAft>
                <a:spcPts val="500"/>
              </a:spcAft>
              <a:buSzPct val="100000"/>
              <a:buChar char="•"/>
            </a:pPr>
            <a:r>
              <a:rPr lang="en-US" sz="1150" dirty="0">
                <a:solidFill>
                  <a:srgbClr val="12333B"/>
                </a:solidFill>
                <a:latin typeface="Calibri" pitchFamily="34" charset="0"/>
                <a:ea typeface="Calibri" pitchFamily="34" charset="-122"/>
                <a:cs typeface="Calibri" pitchFamily="34" charset="-120"/>
              </a:rPr>
              <a:t>Ball va reyting — real satrlardan</a:t>
            </a:r>
            <a:endParaRPr lang="en-US" sz="1150" dirty="0"/>
          </a:p>
        </p:txBody>
      </p:sp>
      <p:sp>
        <p:nvSpPr>
          <p:cNvPr id="7" name="Shape 5"/>
          <p:cNvSpPr/>
          <p:nvPr/>
        </p:nvSpPr>
        <p:spPr>
          <a:xfrm>
            <a:off x="4709160" y="1417320"/>
            <a:ext cx="3931920" cy="2514600"/>
          </a:xfrm>
          <a:prstGeom prst="roundRect">
            <a:avLst>
              <a:gd name="adj" fmla="val 2909"/>
            </a:avLst>
          </a:prstGeom>
          <a:solidFill>
            <a:srgbClr val="FCEDE8"/>
          </a:solidFill>
          <a:ln w="12700">
            <a:solidFill>
              <a:srgbClr val="FCEDE8"/>
            </a:solidFill>
            <a:prstDash val="solid"/>
          </a:ln>
        </p:spPr>
      </p:sp>
      <p:sp>
        <p:nvSpPr>
          <p:cNvPr id="8" name="Text 6"/>
          <p:cNvSpPr/>
          <p:nvPr/>
        </p:nvSpPr>
        <p:spPr>
          <a:xfrm>
            <a:off x="4946904" y="1572768"/>
            <a:ext cx="3474720" cy="292608"/>
          </a:xfrm>
          <a:prstGeom prst="rect">
            <a:avLst/>
          </a:prstGeom>
          <a:noFill/>
          <a:ln/>
        </p:spPr>
        <p:txBody>
          <a:bodyPr wrap="square" lIns="0" tIns="0" rIns="0" bIns="0" rtlCol="0" anchor="ctr"/>
          <a:lstStyle/>
          <a:p>
            <a:pPr indent="0" marL="0">
              <a:buNone/>
            </a:pPr>
            <a:r>
              <a:rPr lang="en-US" sz="1500" b="1" dirty="0">
                <a:solidFill>
                  <a:srgbClr val="E4572E"/>
                </a:solidFill>
                <a:latin typeface="Calibri" pitchFamily="34" charset="0"/>
                <a:ea typeface="Calibri" pitchFamily="34" charset="-122"/>
                <a:cs typeface="Calibri" pitchFamily="34" charset="-120"/>
              </a:rPr>
              <a:t>Simulyatsiya</a:t>
            </a:r>
            <a:endParaRPr lang="en-US" sz="1500" dirty="0"/>
          </a:p>
        </p:txBody>
      </p:sp>
      <p:sp>
        <p:nvSpPr>
          <p:cNvPr id="9" name="Text 7"/>
          <p:cNvSpPr/>
          <p:nvPr/>
        </p:nvSpPr>
        <p:spPr>
          <a:xfrm>
            <a:off x="4946904" y="1956816"/>
            <a:ext cx="3456432" cy="1828800"/>
          </a:xfrm>
          <a:prstGeom prst="rect">
            <a:avLst/>
          </a:prstGeom>
          <a:noFill/>
          <a:ln/>
        </p:spPr>
        <p:txBody>
          <a:bodyPr wrap="square" lIns="0" tIns="0" rIns="0" bIns="0" rtlCol="0" anchor="ctr"/>
          <a:lstStyle/>
          <a:p>
            <a:pPr indent="0" marL="0">
              <a:lnSpc>
                <a:spcPct val="115000"/>
              </a:lnSpc>
              <a:buNone/>
            </a:pPr>
            <a:r>
              <a:rPr lang="en-US" sz="1150" dirty="0">
                <a:solidFill>
                  <a:srgbClr val="12333B"/>
                </a:solidFill>
                <a:latin typeface="Calibri" pitchFamily="34" charset="0"/>
                <a:ea typeface="Calibri" pitchFamily="34" charset="-122"/>
                <a:cs typeface="Calibri" pitchFamily="34" charset="-120"/>
              </a:rPr>
              <a:t>Faqat tasvir modeli — MockInferenceEngine.</a:t>
            </a:r>
            <a:endParaRPr lang="en-US" sz="1150" dirty="0"/>
          </a:p>
          <a:p>
            <a:pPr indent="0" marL="0">
              <a:lnSpc>
                <a:spcPct val="115000"/>
              </a:lnSpc>
              <a:buNone/>
            </a:pPr>
            <a:endParaRPr lang="en-US" sz="1150" dirty="0"/>
          </a:p>
          <a:p>
            <a:pPr indent="0" marL="0">
              <a:lnSpc>
                <a:spcPct val="115000"/>
              </a:lnSpc>
              <a:buNone/>
            </a:pPr>
            <a:r>
              <a:rPr lang="en-US" sz="1150" dirty="0">
                <a:solidFill>
                  <a:srgbClr val="12333B"/>
                </a:solidFill>
                <a:latin typeface="Calibri" pitchFamily="34" charset="0"/>
                <a:ea typeface="Calibri" pitchFamily="34" charset="-122"/>
                <a:cs typeface="Calibri" pitchFamily="34" charset="-120"/>
              </a:rPr>
              <a:t>U Protocol interfeysi orqasida turadi: real model qo'shilsa, boshqa hech qanday kod o'zgarmaydi.</a:t>
            </a:r>
            <a:endParaRPr lang="en-US" sz="1150" dirty="0"/>
          </a:p>
          <a:p>
            <a:pPr indent="0" marL="0">
              <a:lnSpc>
                <a:spcPct val="115000"/>
              </a:lnSpc>
              <a:buNone/>
            </a:pPr>
            <a:endParaRPr lang="en-US" sz="1150" dirty="0"/>
          </a:p>
          <a:p>
            <a:pPr indent="0" marL="0">
              <a:lnSpc>
                <a:spcPct val="115000"/>
              </a:lnSpc>
              <a:buNone/>
            </a:pPr>
            <a:r>
              <a:rPr lang="en-US" sz="1150" dirty="0">
                <a:solidFill>
                  <a:srgbClr val="12333B"/>
                </a:solidFill>
                <a:latin typeface="Calibri" pitchFamily="34" charset="0"/>
                <a:ea typeface="Calibri" pitchFamily="34" charset="-122"/>
                <a:cs typeface="Calibri" pitchFamily="34" charset="-120"/>
              </a:rPr>
              <a:t>Bu ataylab qilingan tanlov. Loyiha klinik AI atrofidagi xavfsizlik karkasi haqida — karkas esa real bo'lishi shart edi.</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333D"/>
        </a:solidFill>
      </p:bgPr>
    </p:bg>
    <p:spTree>
      <p:nvGrpSpPr>
        <p:cNvPr id="1" name=""/>
        <p:cNvGrpSpPr/>
        <p:nvPr/>
      </p:nvGrpSpPr>
      <p:grpSpPr>
        <a:xfrm>
          <a:off x="0" y="0"/>
          <a:ext cx="0" cy="0"/>
          <a:chOff x="0" y="0"/>
          <a:chExt cx="0" cy="0"/>
        </a:xfrm>
      </p:grpSpPr>
      <p:sp>
        <p:nvSpPr>
          <p:cNvPr id="2" name="Shape 0"/>
          <p:cNvSpPr/>
          <p:nvPr/>
        </p:nvSpPr>
        <p:spPr>
          <a:xfrm>
            <a:off x="-1097280" y="3108960"/>
            <a:ext cx="3108960" cy="3108960"/>
          </a:xfrm>
          <a:prstGeom prst="ellipse">
            <a:avLst/>
          </a:prstGeom>
          <a:solidFill>
            <a:srgbClr val="028090">
              <a:alpha val="20000"/>
            </a:srgbClr>
          </a:solidFill>
          <a:ln w="12700">
            <a:solidFill>
              <a:srgbClr val="028090">
                <a:alpha val="0"/>
              </a:srgbClr>
            </a:solidFill>
            <a:prstDash val="solid"/>
          </a:ln>
        </p:spPr>
      </p:sp>
      <p:sp>
        <p:nvSpPr>
          <p:cNvPr id="3" name="Text 1"/>
          <p:cNvSpPr/>
          <p:nvPr/>
        </p:nvSpPr>
        <p:spPr>
          <a:xfrm>
            <a:off x="502920" y="1207008"/>
            <a:ext cx="6858000" cy="457200"/>
          </a:xfrm>
          <a:prstGeom prst="rect">
            <a:avLst/>
          </a:prstGeom>
          <a:noFill/>
          <a:ln/>
        </p:spPr>
        <p:txBody>
          <a:bodyPr wrap="square" lIns="0" tIns="0" rIns="0" bIns="0" rtlCol="0" anchor="ctr"/>
          <a:lstStyle/>
          <a:p>
            <a:pPr indent="0" marL="0">
              <a:buNone/>
            </a:pPr>
            <a:r>
              <a:rPr lang="en-US" sz="2200" dirty="0">
                <a:solidFill>
                  <a:srgbClr val="9FB6BB"/>
                </a:solidFill>
                <a:latin typeface="Cambria" pitchFamily="34" charset="0"/>
                <a:ea typeface="Cambria" pitchFamily="34" charset="-122"/>
                <a:cs typeface="Cambria" pitchFamily="34" charset="-120"/>
              </a:rPr>
              <a:t>Standart PDF'da bo'lsa — hech nima o'zgarmaydi.</a:t>
            </a:r>
            <a:endParaRPr lang="en-US" sz="2200" dirty="0"/>
          </a:p>
        </p:txBody>
      </p:sp>
      <p:sp>
        <p:nvSpPr>
          <p:cNvPr id="4" name="Text 2"/>
          <p:cNvSpPr/>
          <p:nvPr/>
        </p:nvSpPr>
        <p:spPr>
          <a:xfrm>
            <a:off x="502920" y="1700784"/>
            <a:ext cx="6858000" cy="50292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Standartni API majburlasa — xulq o'zgaradi.</a:t>
            </a:r>
            <a:endParaRPr lang="en-US" sz="2400" dirty="0"/>
          </a:p>
        </p:txBody>
      </p:sp>
      <p:sp>
        <p:nvSpPr>
          <p:cNvPr id="5" name="Shape 3"/>
          <p:cNvSpPr/>
          <p:nvPr/>
        </p:nvSpPr>
        <p:spPr>
          <a:xfrm>
            <a:off x="502920" y="2743200"/>
            <a:ext cx="2560320" cy="658368"/>
          </a:xfrm>
          <a:prstGeom prst="roundRect">
            <a:avLst>
              <a:gd name="adj" fmla="val 11111"/>
            </a:avLst>
          </a:prstGeom>
          <a:solidFill>
            <a:srgbClr val="0C4552"/>
          </a:solidFill>
          <a:ln w="12700">
            <a:solidFill>
              <a:srgbClr val="0C4552"/>
            </a:solidFill>
            <a:prstDash val="solid"/>
          </a:ln>
        </p:spPr>
      </p:sp>
      <p:sp>
        <p:nvSpPr>
          <p:cNvPr id="6" name="Text 4"/>
          <p:cNvSpPr/>
          <p:nvPr/>
        </p:nvSpPr>
        <p:spPr>
          <a:xfrm>
            <a:off x="667512" y="2743200"/>
            <a:ext cx="2231136" cy="658368"/>
          </a:xfrm>
          <a:prstGeom prst="rect">
            <a:avLst/>
          </a:prstGeom>
          <a:noFill/>
          <a:ln/>
        </p:spPr>
        <p:txBody>
          <a:bodyPr wrap="square" lIns="0" tIns="0" rIns="0" bIns="0" rtlCol="0" anchor="ctr"/>
          <a:lstStyle/>
          <a:p>
            <a:pPr indent="0" marL="0">
              <a:buNone/>
            </a:pPr>
            <a:r>
              <a:rPr lang="en-US" sz="1250" dirty="0">
                <a:solidFill>
                  <a:srgbClr val="02C39A"/>
                </a:solidFill>
                <a:latin typeface="Calibri" pitchFamily="34" charset="0"/>
                <a:ea typeface="Calibri" pitchFamily="34" charset="-122"/>
                <a:cs typeface="Calibri" pitchFamily="34" charset="-120"/>
              </a:rPr>
              <a:t>Real modelni ulash</a:t>
            </a:r>
            <a:endParaRPr lang="en-US" sz="1250" dirty="0"/>
          </a:p>
        </p:txBody>
      </p:sp>
      <p:sp>
        <p:nvSpPr>
          <p:cNvPr id="7" name="Shape 5"/>
          <p:cNvSpPr/>
          <p:nvPr/>
        </p:nvSpPr>
        <p:spPr>
          <a:xfrm>
            <a:off x="3291840" y="2743200"/>
            <a:ext cx="2560320" cy="658368"/>
          </a:xfrm>
          <a:prstGeom prst="roundRect">
            <a:avLst>
              <a:gd name="adj" fmla="val 11111"/>
            </a:avLst>
          </a:prstGeom>
          <a:solidFill>
            <a:srgbClr val="0C4552"/>
          </a:solidFill>
          <a:ln w="12700">
            <a:solidFill>
              <a:srgbClr val="0C4552"/>
            </a:solidFill>
            <a:prstDash val="solid"/>
          </a:ln>
        </p:spPr>
      </p:sp>
      <p:sp>
        <p:nvSpPr>
          <p:cNvPr id="8" name="Text 6"/>
          <p:cNvSpPr/>
          <p:nvPr/>
        </p:nvSpPr>
        <p:spPr>
          <a:xfrm>
            <a:off x="3456432" y="2743200"/>
            <a:ext cx="2231136" cy="658368"/>
          </a:xfrm>
          <a:prstGeom prst="rect">
            <a:avLst/>
          </a:prstGeom>
          <a:noFill/>
          <a:ln/>
        </p:spPr>
        <p:txBody>
          <a:bodyPr wrap="square" lIns="0" tIns="0" rIns="0" bIns="0" rtlCol="0" anchor="ctr"/>
          <a:lstStyle/>
          <a:p>
            <a:pPr indent="0" marL="0">
              <a:buNone/>
            </a:pPr>
            <a:r>
              <a:rPr lang="en-US" sz="1250" dirty="0">
                <a:solidFill>
                  <a:srgbClr val="02C39A"/>
                </a:solidFill>
                <a:latin typeface="Calibri" pitchFamily="34" charset="0"/>
                <a:ea typeface="Calibri" pitchFamily="34" charset="-122"/>
                <a:cs typeface="Calibri" pitchFamily="34" charset="-120"/>
              </a:rPr>
              <a:t>Klinisyen ko'rigi</a:t>
            </a:r>
            <a:endParaRPr lang="en-US" sz="1250" dirty="0"/>
          </a:p>
        </p:txBody>
      </p:sp>
      <p:sp>
        <p:nvSpPr>
          <p:cNvPr id="9" name="Shape 7"/>
          <p:cNvSpPr/>
          <p:nvPr/>
        </p:nvSpPr>
        <p:spPr>
          <a:xfrm>
            <a:off x="6080760" y="2743200"/>
            <a:ext cx="2560320" cy="658368"/>
          </a:xfrm>
          <a:prstGeom prst="roundRect">
            <a:avLst>
              <a:gd name="adj" fmla="val 11111"/>
            </a:avLst>
          </a:prstGeom>
          <a:solidFill>
            <a:srgbClr val="0C4552"/>
          </a:solidFill>
          <a:ln w="12700">
            <a:solidFill>
              <a:srgbClr val="0C4552"/>
            </a:solidFill>
            <a:prstDash val="solid"/>
          </a:ln>
        </p:spPr>
      </p:sp>
      <p:sp>
        <p:nvSpPr>
          <p:cNvPr id="10" name="Text 8"/>
          <p:cNvSpPr/>
          <p:nvPr/>
        </p:nvSpPr>
        <p:spPr>
          <a:xfrm>
            <a:off x="6245352" y="2743200"/>
            <a:ext cx="2231136" cy="658368"/>
          </a:xfrm>
          <a:prstGeom prst="rect">
            <a:avLst/>
          </a:prstGeom>
          <a:noFill/>
          <a:ln/>
        </p:spPr>
        <p:txBody>
          <a:bodyPr wrap="square" lIns="0" tIns="0" rIns="0" bIns="0" rtlCol="0" anchor="ctr"/>
          <a:lstStyle/>
          <a:p>
            <a:pPr indent="0" marL="0">
              <a:buNone/>
            </a:pPr>
            <a:r>
              <a:rPr lang="en-US" sz="1250" dirty="0">
                <a:solidFill>
                  <a:srgbClr val="02C39A"/>
                </a:solidFill>
                <a:latin typeface="Calibri" pitchFamily="34" charset="0"/>
                <a:ea typeface="Calibri" pitchFamily="34" charset="-122"/>
                <a:cs typeface="Calibri" pitchFamily="34" charset="-120"/>
              </a:rPr>
              <a:t>Guruh bilan pilot</a:t>
            </a:r>
            <a:endParaRPr lang="en-US" sz="1250" dirty="0"/>
          </a:p>
        </p:txBody>
      </p:sp>
      <p:sp>
        <p:nvSpPr>
          <p:cNvPr id="11" name="Text 9"/>
          <p:cNvSpPr/>
          <p:nvPr/>
        </p:nvSpPr>
        <p:spPr>
          <a:xfrm>
            <a:off x="502920" y="2414016"/>
            <a:ext cx="8138160" cy="274320"/>
          </a:xfrm>
          <a:prstGeom prst="rect">
            <a:avLst/>
          </a:prstGeom>
          <a:noFill/>
          <a:ln/>
        </p:spPr>
        <p:txBody>
          <a:bodyPr wrap="square" lIns="0" tIns="0" rIns="0" bIns="0" rtlCol="0" anchor="ctr"/>
          <a:lstStyle/>
          <a:p>
            <a:pPr indent="0" marL="0">
              <a:buNone/>
            </a:pPr>
            <a:r>
              <a:rPr lang="en-US" sz="1150" dirty="0">
                <a:solidFill>
                  <a:srgbClr val="7E999F"/>
                </a:solidFill>
                <a:latin typeface="Calibri" pitchFamily="34" charset="0"/>
                <a:ea typeface="Calibri" pitchFamily="34" charset="-122"/>
                <a:cs typeface="Calibri" pitchFamily="34" charset="-120"/>
              </a:rPr>
              <a:t>Keyingi qadamlar</a:t>
            </a:r>
            <a:endParaRPr lang="en-US" sz="1150" dirty="0"/>
          </a:p>
        </p:txBody>
      </p:sp>
      <p:sp>
        <p:nvSpPr>
          <p:cNvPr id="12" name="Text 10"/>
          <p:cNvSpPr/>
          <p:nvPr/>
        </p:nvSpPr>
        <p:spPr>
          <a:xfrm>
            <a:off x="502920" y="3950208"/>
            <a:ext cx="8138160" cy="310896"/>
          </a:xfrm>
          <a:prstGeom prst="rect">
            <a:avLst/>
          </a:prstGeom>
          <a:noFill/>
          <a:ln/>
        </p:spPr>
        <p:txBody>
          <a:bodyPr wrap="square" lIns="0" tIns="0" rIns="0" bIns="0" rtlCol="0" anchor="ctr"/>
          <a:lstStyle/>
          <a:p>
            <a:pPr indent="0" marL="0">
              <a:buNone/>
            </a:pPr>
            <a:r>
              <a:rPr lang="en-US" sz="1300" dirty="0">
                <a:solidFill>
                  <a:srgbClr val="9FB6BB"/>
                </a:solidFill>
                <a:latin typeface="Calibri" pitchFamily="34" charset="0"/>
                <a:ea typeface="Calibri" pitchFamily="34" charset="-122"/>
                <a:cs typeface="Calibri" pitchFamily="34" charset="-120"/>
              </a:rPr>
              <a:t>Rahmat. Savollaringiz bo'lsa — marhamat.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Medly — texnik taqdimot</dc:title>
  <dc:subject>PptxGenJS Presentation</dc:subject>
  <dc:creator>Medly</dc:creator>
  <cp:lastModifiedBy>Medly</cp:lastModifiedBy>
  <cp:revision>1</cp:revision>
  <dcterms:created xsi:type="dcterms:W3CDTF">2026-08-12T10:10:03Z</dcterms:created>
  <dcterms:modified xsi:type="dcterms:W3CDTF">2026-08-12T10:10:03Z</dcterms:modified>
</cp:coreProperties>
</file>